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DE1E61-6C54-42E2-3C3B-534149260B98}" v="44" dt="2026-05-19T02:56:16.1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 rasheed" userId="f93c34948543cf75" providerId="Windows Live" clId="Web-{19DE1E61-6C54-42E2-3C3B-534149260B98}"/>
    <pc:docChg chg="modSld">
      <pc:chgData name="abdul rasheed" userId="f93c34948543cf75" providerId="Windows Live" clId="Web-{19DE1E61-6C54-42E2-3C3B-534149260B98}" dt="2026-05-19T02:56:16.166" v="43" actId="20577"/>
      <pc:docMkLst>
        <pc:docMk/>
      </pc:docMkLst>
      <pc:sldChg chg="addSp delSp modSp">
        <pc:chgData name="abdul rasheed" userId="f93c34948543cf75" providerId="Windows Live" clId="Web-{19DE1E61-6C54-42E2-3C3B-534149260B98}" dt="2026-05-19T02:54:58.350" v="38" actId="20577"/>
        <pc:sldMkLst>
          <pc:docMk/>
          <pc:sldMk cId="0" sldId="256"/>
        </pc:sldMkLst>
        <pc:spChg chg="add del mod">
          <ac:chgData name="abdul rasheed" userId="f93c34948543cf75" providerId="Windows Live" clId="Web-{19DE1E61-6C54-42E2-3C3B-534149260B98}" dt="2026-05-19T02:54:43.787" v="36"/>
          <ac:spMkLst>
            <pc:docMk/>
            <pc:sldMk cId="0" sldId="256"/>
            <ac:spMk id="9" creationId="{E3B62F1E-5158-6367-68A1-F5784425E2D9}"/>
          </ac:spMkLst>
        </pc:spChg>
        <pc:spChg chg="add mod">
          <ac:chgData name="abdul rasheed" userId="f93c34948543cf75" providerId="Windows Live" clId="Web-{19DE1E61-6C54-42E2-3C3B-534149260B98}" dt="2026-05-19T02:54:58.350" v="38" actId="20577"/>
          <ac:spMkLst>
            <pc:docMk/>
            <pc:sldMk cId="0" sldId="256"/>
            <ac:spMk id="10" creationId="{6BA9484B-A7AE-C528-7E98-922EFFA18931}"/>
          </ac:spMkLst>
        </pc:spChg>
      </pc:sldChg>
      <pc:sldChg chg="addSp delSp modSp">
        <pc:chgData name="abdul rasheed" userId="f93c34948543cf75" providerId="Windows Live" clId="Web-{19DE1E61-6C54-42E2-3C3B-534149260B98}" dt="2026-05-19T02:56:16.166" v="43" actId="20577"/>
        <pc:sldMkLst>
          <pc:docMk/>
          <pc:sldMk cId="0" sldId="264"/>
        </pc:sldMkLst>
        <pc:spChg chg="del">
          <ac:chgData name="abdul rasheed" userId="f93c34948543cf75" providerId="Windows Live" clId="Web-{19DE1E61-6C54-42E2-3C3B-534149260B98}" dt="2026-05-19T02:55:55.556" v="39"/>
          <ac:spMkLst>
            <pc:docMk/>
            <pc:sldMk cId="0" sldId="264"/>
            <ac:spMk id="10" creationId="{00000000-0000-0000-0000-000000000000}"/>
          </ac:spMkLst>
        </pc:spChg>
        <pc:spChg chg="add mod">
          <ac:chgData name="abdul rasheed" userId="f93c34948543cf75" providerId="Windows Live" clId="Web-{19DE1E61-6C54-42E2-3C3B-534149260B98}" dt="2026-05-19T02:56:16.166" v="43" actId="20577"/>
          <ac:spMkLst>
            <pc:docMk/>
            <pc:sldMk cId="0" sldId="264"/>
            <ac:spMk id="11" creationId="{934C2132-1191-2233-C6D6-EC3EE85879D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C29A4A0A-8DD5-49C1-A309-5F21F4433913}" type="datetimeFigureOut">
              <a:t>5/18/2026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909FD10B-C3E5-47D3-9351-95C8659FDCB4}" type="slidenum">
              <a:t>‹#›</a:t>
            </a:fld>
            <a:endParaRPr lang="en-US"/>
          </a:p>
        </p:txBody>
      </p:sp>
    </p:spTree>
    <p:extLst>
      <p:ext uri="{BB962C8B-B14F-4D97-AF65-F5344CB8AC3E}">
        <p14:creationId xmlns:p14="http://schemas.microsoft.com/office/powerpoint/2010/main" val="332592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our proposal for the FiTEN Business Directory — a year-round B2B platform built exclusively for Tamil entrepreneurs. We'll cover the problem, what we're building, why FiTEN is uniquely positioned to do this, and five concrete next steps to get started today. This should take about 10-15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FiTEN has spent 40 years building incredible trust and community, but it only activates 3 days a year at the conference. When Edison ends, the connections disappear. There's no searchable directory, no persistent profiles, no digital infrastructure. We're sitting on a massive asset — and not putting it to work year-round.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is substantial. 600,000 Tamil people in North America, 71 Sangams already in FeTNA's network, 3,000+ convention attendees last year alone. The key point: we don't have a user acquisition problem. These are our founding members. They already trust FiTEN. We just need to give them the platform.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none of which exist in one place today. Google finds Tamil restaurants — consumer, not B2B. LinkedIn has no Tamil filter. Facebook groups have no structured profiles. India-specific directories ignore the diaspora. We're combining Tamil identity, B2B networking, investor matching, and event history in a single platform. That's genuinely new.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competitive moats — and the trust moat is the most important. 40 years of FeTNA relationships cannot be bought or replicated overnight. Our founding member list is already populated. No competitor has all these capabilities. And the cross-border Tamil commerce use case is exclusively ours to serve.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clean pricing. The Free tier gives every active member a searchable listing with the verified badge — zero barrier to entry. Pro at $29 per month or $290 per year (a 17% discount) adds the full B2B toolset, bilingual descriptions, analytics, and priority placement. This is a very competitive price for professional directory listings — comparable services charge $50+ per month.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over roughly 10 months. Phase 1 is critical — it needs to ship in 90 days and be ready to demo at the next Edison event. The soft launch at Edison is our showcase moment. Phases 2 through 4 add the richer features progressively. The key point: Phase 1 is lean and achievable — search, profiles, mobile-ready, Pro tier live.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next steps. Step 1 — board approval — is why we're in this room. We're asking for the go-ahead and Phase 1 budget authorisation today. Steps 2 through 5 flow from that decision. Developer talent exists within our community. The founding 100 listings are already in our member roster — we just need to call them. The Edison event is our launch moment.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Three things from this room today: approval to proceed, Phase 1 budget authorisation, and agreement on who will be the Directory Lead. The FiTEN Business Directory is the infrastructure this community has earned over 40 years. The technology is ready. The community is ready. Let's build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1414"/>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69400"/>
          </a:solidFill>
          <a:ln w="12700">
            <a:solidFill>
              <a:srgbClr val="C69400"/>
            </a:solidFill>
            <a:prstDash val="solid"/>
          </a:ln>
        </p:spPr>
      </p:sp>
      <p:sp>
        <p:nvSpPr>
          <p:cNvPr id="3" name="Text 1"/>
          <p:cNvSpPr/>
          <p:nvPr/>
        </p:nvSpPr>
        <p:spPr>
          <a:xfrm>
            <a:off x="457200" y="256032"/>
            <a:ext cx="8229600" cy="292608"/>
          </a:xfrm>
          <a:prstGeom prst="rect">
            <a:avLst/>
          </a:prstGeom>
          <a:noFill/>
          <a:ln/>
        </p:spPr>
        <p:txBody>
          <a:bodyPr wrap="square" rtlCol="0" anchor="ctr"/>
          <a:lstStyle/>
          <a:p>
            <a:pPr marL="0" indent="0" algn="ctr">
              <a:buNone/>
            </a:pPr>
            <a:r>
              <a:rPr lang="en-US" sz="1000" i="1" kern="0" spc="100" dirty="0">
                <a:solidFill>
                  <a:srgbClr val="C8A84B"/>
                </a:solidFill>
              </a:rPr>
              <a:t>FiTEN / FeTNA  ·  fiten.org  ·  May 2026</a:t>
            </a:r>
            <a:endParaRPr lang="en-US" sz="1000" dirty="0"/>
          </a:p>
        </p:txBody>
      </p:sp>
      <p:sp>
        <p:nvSpPr>
          <p:cNvPr id="4" name="Text 2"/>
          <p:cNvSpPr/>
          <p:nvPr/>
        </p:nvSpPr>
        <p:spPr>
          <a:xfrm>
            <a:off x="457200" y="960120"/>
            <a:ext cx="8229600" cy="1188720"/>
          </a:xfrm>
          <a:prstGeom prst="rect">
            <a:avLst/>
          </a:prstGeom>
          <a:noFill/>
          <a:ln/>
        </p:spPr>
        <p:txBody>
          <a:bodyPr wrap="square"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FiTEN Business Directory</a:t>
            </a:r>
            <a:endParaRPr lang="en-US" sz="5200" dirty="0"/>
          </a:p>
        </p:txBody>
      </p:sp>
      <p:sp>
        <p:nvSpPr>
          <p:cNvPr id="5" name="Shape 3"/>
          <p:cNvSpPr/>
          <p:nvPr/>
        </p:nvSpPr>
        <p:spPr>
          <a:xfrm>
            <a:off x="3200400" y="2286000"/>
            <a:ext cx="2743200" cy="50292"/>
          </a:xfrm>
          <a:prstGeom prst="rect">
            <a:avLst/>
          </a:prstGeom>
          <a:solidFill>
            <a:srgbClr val="C69400"/>
          </a:solidFill>
          <a:ln w="12700">
            <a:solidFill>
              <a:srgbClr val="C69400"/>
            </a:solidFill>
            <a:prstDash val="solid"/>
          </a:ln>
        </p:spPr>
      </p:sp>
      <p:sp>
        <p:nvSpPr>
          <p:cNvPr id="6" name="Text 4"/>
          <p:cNvSpPr/>
          <p:nvPr/>
        </p:nvSpPr>
        <p:spPr>
          <a:xfrm>
            <a:off x="457200" y="2423160"/>
            <a:ext cx="8229600" cy="457200"/>
          </a:xfrm>
          <a:prstGeom prst="rect">
            <a:avLst/>
          </a:prstGeom>
          <a:noFill/>
          <a:ln/>
        </p:spPr>
        <p:txBody>
          <a:bodyPr wrap="square" rtlCol="0" anchor="ctr"/>
          <a:lstStyle/>
          <a:p>
            <a:pPr marL="0" indent="0" algn="ctr">
              <a:buNone/>
            </a:pPr>
            <a:r>
              <a:rPr lang="en-US" sz="1800" dirty="0">
                <a:solidFill>
                  <a:srgbClr val="E8D87A"/>
                </a:solidFill>
                <a:latin typeface="Calibri" pitchFamily="34" charset="0"/>
                <a:ea typeface="Calibri" pitchFamily="34" charset="-122"/>
                <a:cs typeface="Calibri" pitchFamily="34" charset="-120"/>
              </a:rPr>
              <a:t>A Year-Round B2B Platform for Tamil Entrepreneurs</a:t>
            </a:r>
            <a:endParaRPr lang="en-US" sz="1800" dirty="0"/>
          </a:p>
        </p:txBody>
      </p:sp>
      <p:sp>
        <p:nvSpPr>
          <p:cNvPr id="7" name="Text 5"/>
          <p:cNvSpPr/>
          <p:nvPr/>
        </p:nvSpPr>
        <p:spPr>
          <a:xfrm>
            <a:off x="457200" y="3017520"/>
            <a:ext cx="8229600" cy="411480"/>
          </a:xfrm>
          <a:prstGeom prst="rect">
            <a:avLst/>
          </a:prstGeom>
          <a:noFill/>
          <a:ln/>
        </p:spPr>
        <p:txBody>
          <a:bodyPr wrap="square" rtlCol="0" anchor="ctr"/>
          <a:lstStyle/>
          <a:p>
            <a:pPr marL="0" indent="0" algn="ctr">
              <a:buNone/>
            </a:pPr>
            <a:r>
              <a:rPr lang="en-US" sz="1300" i="1" dirty="0">
                <a:solidFill>
                  <a:srgbClr val="BBBBBB"/>
                </a:solidFill>
                <a:latin typeface="Calibri" pitchFamily="34" charset="0"/>
                <a:ea typeface="Calibri" pitchFamily="34" charset="-122"/>
                <a:cs typeface="Calibri" pitchFamily="34" charset="-120"/>
              </a:rPr>
              <a:t>Connecting Tamil Entrepreneurs — Across Borders, Across Industries, Year-Round</a:t>
            </a:r>
            <a:endParaRPr lang="en-US" sz="1300" dirty="0"/>
          </a:p>
        </p:txBody>
      </p:sp>
      <p:sp>
        <p:nvSpPr>
          <p:cNvPr id="8" name="Shape 6"/>
          <p:cNvSpPr/>
          <p:nvPr/>
        </p:nvSpPr>
        <p:spPr>
          <a:xfrm>
            <a:off x="0" y="4937760"/>
            <a:ext cx="9144000" cy="205740"/>
          </a:xfrm>
          <a:prstGeom prst="rect">
            <a:avLst/>
          </a:prstGeom>
          <a:solidFill>
            <a:srgbClr val="C69400"/>
          </a:solidFill>
          <a:ln w="12700">
            <a:solidFill>
              <a:srgbClr val="C69400"/>
            </a:solidFill>
            <a:prstDash val="solid"/>
          </a:ln>
        </p:spPr>
      </p:sp>
      <p:sp>
        <p:nvSpPr>
          <p:cNvPr id="10" name="Text 2">
            <a:extLst>
              <a:ext uri="{FF2B5EF4-FFF2-40B4-BE49-F238E27FC236}">
                <a16:creationId xmlns:a16="http://schemas.microsoft.com/office/drawing/2014/main" id="{6BA9484B-A7AE-C528-7E98-922EFFA18931}"/>
              </a:ext>
            </a:extLst>
          </p:cNvPr>
          <p:cNvSpPr/>
          <p:nvPr/>
        </p:nvSpPr>
        <p:spPr>
          <a:xfrm>
            <a:off x="457200" y="4663440"/>
            <a:ext cx="8229600" cy="237744"/>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50" i="1">
                <a:solidFill>
                  <a:srgbClr val="C8A84B"/>
                </a:solidFill>
                <a:latin typeface="Calibri"/>
                <a:ea typeface="Calibri"/>
                <a:cs typeface="Calibri"/>
              </a:rPr>
              <a:t>Presented by Abdul Rasheed  ·  rasheed.comm@gmail.com</a:t>
            </a:r>
            <a:endParaRPr lang="en-US" sz="950">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THE PROBLEM</a:t>
            </a:r>
            <a:endParaRPr lang="en-US" sz="2000" dirty="0"/>
          </a:p>
        </p:txBody>
      </p:sp>
      <p:sp>
        <p:nvSpPr>
          <p:cNvPr id="4" name="Text 2"/>
          <p:cNvSpPr/>
          <p:nvPr/>
        </p:nvSpPr>
        <p:spPr>
          <a:xfrm>
            <a:off x="640080" y="868680"/>
            <a:ext cx="7863840" cy="1234440"/>
          </a:xfrm>
          <a:prstGeom prst="rect">
            <a:avLst/>
          </a:prstGeom>
          <a:noFill/>
          <a:ln/>
        </p:spPr>
        <p:txBody>
          <a:bodyPr wrap="square" rtlCol="0" anchor="ctr"/>
          <a:lstStyle/>
          <a:p>
            <a:pPr marL="0" indent="0" algn="ctr">
              <a:buNone/>
            </a:pPr>
            <a:r>
              <a:rPr lang="en-US" sz="1900" i="1" dirty="0">
                <a:solidFill>
                  <a:srgbClr val="6B1414"/>
                </a:solidFill>
                <a:latin typeface="Cambria" pitchFamily="34" charset="0"/>
                <a:ea typeface="Cambria" pitchFamily="34" charset="-122"/>
                <a:cs typeface="Cambria" pitchFamily="34" charset="-120"/>
              </a:rPr>
              <a:t>“FiTEN has spent 40 years building one of the most connected Tamil entrepreneur networks in North America.</a:t>
            </a:r>
            <a:endParaRPr lang="en-US" sz="1900" dirty="0"/>
          </a:p>
          <a:p>
            <a:pPr marL="0" indent="0" algn="ctr">
              <a:buNone/>
            </a:pPr>
            <a:r>
              <a:rPr lang="en-US" sz="1900" i="1" dirty="0">
                <a:solidFill>
                  <a:srgbClr val="6B1414"/>
                </a:solidFill>
                <a:latin typeface="Cambria" pitchFamily="34" charset="0"/>
                <a:ea typeface="Cambria" pitchFamily="34" charset="-122"/>
                <a:cs typeface="Cambria" pitchFamily="34" charset="-120"/>
              </a:rPr>
              <a:t>But that network lives in event halls — not online.”</a:t>
            </a:r>
            <a:endParaRPr lang="en-US" sz="1900" dirty="0"/>
          </a:p>
        </p:txBody>
      </p:sp>
      <p:sp>
        <p:nvSpPr>
          <p:cNvPr id="5" name="Shape 3"/>
          <p:cNvSpPr/>
          <p:nvPr/>
        </p:nvSpPr>
        <p:spPr>
          <a:xfrm>
            <a:off x="411480" y="2331720"/>
            <a:ext cx="2697480" cy="2331720"/>
          </a:xfrm>
          <a:prstGeom prst="rect">
            <a:avLst/>
          </a:prstGeom>
          <a:solidFill>
            <a:srgbClr val="FFF8E7"/>
          </a:solidFill>
          <a:ln w="12700">
            <a:solidFill>
              <a:srgbClr val="E8D98A"/>
            </a:solidFill>
            <a:prstDash val="solid"/>
          </a:ln>
          <a:effectLst>
            <a:outerShdw blurRad="101600" dist="38100" dir="8100000" algn="bl" rotWithShape="0">
              <a:srgbClr val="000000">
                <a:alpha val="12000"/>
              </a:srgbClr>
            </a:outerShdw>
          </a:effectLst>
        </p:spPr>
      </p:sp>
      <p:sp>
        <p:nvSpPr>
          <p:cNvPr id="6" name="Shape 4"/>
          <p:cNvSpPr/>
          <p:nvPr/>
        </p:nvSpPr>
        <p:spPr>
          <a:xfrm>
            <a:off x="411480" y="2331720"/>
            <a:ext cx="2697480" cy="73152"/>
          </a:xfrm>
          <a:prstGeom prst="rect">
            <a:avLst/>
          </a:prstGeom>
          <a:solidFill>
            <a:srgbClr val="C69400"/>
          </a:solidFill>
          <a:ln w="12700">
            <a:solidFill>
              <a:srgbClr val="C69400"/>
            </a:solidFill>
            <a:prstDash val="solid"/>
          </a:ln>
        </p:spPr>
      </p:sp>
      <p:sp>
        <p:nvSpPr>
          <p:cNvPr id="7" name="Text 5"/>
          <p:cNvSpPr/>
          <p:nvPr/>
        </p:nvSpPr>
        <p:spPr>
          <a:xfrm>
            <a:off x="521208" y="2441448"/>
            <a:ext cx="365760" cy="347472"/>
          </a:xfrm>
          <a:prstGeom prst="rect">
            <a:avLst/>
          </a:prstGeom>
          <a:noFill/>
          <a:ln/>
        </p:spPr>
        <p:txBody>
          <a:bodyPr wrap="square" lIns="0" tIns="0" rIns="0" bIns="0" rtlCol="0" anchor="ctr"/>
          <a:lstStyle/>
          <a:p>
            <a:pPr marL="0" indent="0">
              <a:buNone/>
            </a:pPr>
            <a:r>
              <a:rPr lang="en-US" sz="1600" b="1" dirty="0">
                <a:solidFill>
                  <a:srgbClr val="8B1A1A"/>
                </a:solidFill>
              </a:rPr>
              <a:t>✕</a:t>
            </a:r>
            <a:endParaRPr lang="en-US" sz="1600" dirty="0"/>
          </a:p>
        </p:txBody>
      </p:sp>
      <p:sp>
        <p:nvSpPr>
          <p:cNvPr id="8" name="Text 6"/>
          <p:cNvSpPr/>
          <p:nvPr/>
        </p:nvSpPr>
        <p:spPr>
          <a:xfrm>
            <a:off x="539496" y="2834640"/>
            <a:ext cx="2423160" cy="438912"/>
          </a:xfrm>
          <a:prstGeom prst="rect">
            <a:avLst/>
          </a:prstGeom>
          <a:noFill/>
          <a:ln/>
        </p:spPr>
        <p:txBody>
          <a:bodyPr wrap="square" lIns="0" tIns="0" rIns="0" bIns="0" rtlCol="0" anchor="ctr"/>
          <a:lstStyle/>
          <a:p>
            <a:pPr marL="0" indent="0">
              <a:buNone/>
            </a:pPr>
            <a:r>
              <a:rPr lang="en-US" sz="1200" b="1" dirty="0">
                <a:solidFill>
                  <a:srgbClr val="6B1414"/>
                </a:solidFill>
                <a:latin typeface="Cambria" pitchFamily="34" charset="0"/>
                <a:ea typeface="Cambria" pitchFamily="34" charset="-122"/>
                <a:cs typeface="Cambria" pitchFamily="34" charset="-120"/>
              </a:rPr>
              <a:t>Connections disappear</a:t>
            </a:r>
            <a:endParaRPr lang="en-US" sz="1200" dirty="0"/>
          </a:p>
        </p:txBody>
      </p:sp>
      <p:sp>
        <p:nvSpPr>
          <p:cNvPr id="9" name="Text 7"/>
          <p:cNvSpPr/>
          <p:nvPr/>
        </p:nvSpPr>
        <p:spPr>
          <a:xfrm>
            <a:off x="539496" y="3310128"/>
            <a:ext cx="2423160" cy="123444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When the FiTEN Edison conference ends, relationships fade. No persistent record, no follow-up infrastructure.</a:t>
            </a:r>
            <a:endParaRPr lang="en-US" sz="1050" dirty="0"/>
          </a:p>
        </p:txBody>
      </p:sp>
      <p:sp>
        <p:nvSpPr>
          <p:cNvPr id="10" name="Shape 8"/>
          <p:cNvSpPr/>
          <p:nvPr/>
        </p:nvSpPr>
        <p:spPr>
          <a:xfrm>
            <a:off x="3291840" y="2331720"/>
            <a:ext cx="2697480" cy="2331720"/>
          </a:xfrm>
          <a:prstGeom prst="rect">
            <a:avLst/>
          </a:prstGeom>
          <a:solidFill>
            <a:srgbClr val="FFF8E7"/>
          </a:solidFill>
          <a:ln w="12700">
            <a:solidFill>
              <a:srgbClr val="E8D98A"/>
            </a:solidFill>
            <a:prstDash val="solid"/>
          </a:ln>
          <a:effectLst>
            <a:outerShdw blurRad="101600" dist="38100" dir="8100000" algn="bl" rotWithShape="0">
              <a:srgbClr val="000000">
                <a:alpha val="12000"/>
              </a:srgbClr>
            </a:outerShdw>
          </a:effectLst>
        </p:spPr>
      </p:sp>
      <p:sp>
        <p:nvSpPr>
          <p:cNvPr id="11" name="Shape 9"/>
          <p:cNvSpPr/>
          <p:nvPr/>
        </p:nvSpPr>
        <p:spPr>
          <a:xfrm>
            <a:off x="3291840" y="2331720"/>
            <a:ext cx="2697480" cy="73152"/>
          </a:xfrm>
          <a:prstGeom prst="rect">
            <a:avLst/>
          </a:prstGeom>
          <a:solidFill>
            <a:srgbClr val="C69400"/>
          </a:solidFill>
          <a:ln w="12700">
            <a:solidFill>
              <a:srgbClr val="C69400"/>
            </a:solidFill>
            <a:prstDash val="solid"/>
          </a:ln>
        </p:spPr>
      </p:sp>
      <p:sp>
        <p:nvSpPr>
          <p:cNvPr id="12" name="Text 10"/>
          <p:cNvSpPr/>
          <p:nvPr/>
        </p:nvSpPr>
        <p:spPr>
          <a:xfrm>
            <a:off x="3401568" y="2441448"/>
            <a:ext cx="365760" cy="347472"/>
          </a:xfrm>
          <a:prstGeom prst="rect">
            <a:avLst/>
          </a:prstGeom>
          <a:noFill/>
          <a:ln/>
        </p:spPr>
        <p:txBody>
          <a:bodyPr wrap="square" lIns="0" tIns="0" rIns="0" bIns="0" rtlCol="0" anchor="ctr"/>
          <a:lstStyle/>
          <a:p>
            <a:pPr marL="0" indent="0">
              <a:buNone/>
            </a:pPr>
            <a:r>
              <a:rPr lang="en-US" sz="1600" b="1" dirty="0">
                <a:solidFill>
                  <a:srgbClr val="8B1A1A"/>
                </a:solidFill>
              </a:rPr>
              <a:t>✕</a:t>
            </a:r>
            <a:endParaRPr lang="en-US" sz="1600" dirty="0"/>
          </a:p>
        </p:txBody>
      </p:sp>
      <p:sp>
        <p:nvSpPr>
          <p:cNvPr id="13" name="Text 11"/>
          <p:cNvSpPr/>
          <p:nvPr/>
        </p:nvSpPr>
        <p:spPr>
          <a:xfrm>
            <a:off x="3419856" y="2834640"/>
            <a:ext cx="2423160" cy="438912"/>
          </a:xfrm>
          <a:prstGeom prst="rect">
            <a:avLst/>
          </a:prstGeom>
          <a:noFill/>
          <a:ln/>
        </p:spPr>
        <p:txBody>
          <a:bodyPr wrap="square" lIns="0" tIns="0" rIns="0" bIns="0" rtlCol="0" anchor="ctr"/>
          <a:lstStyle/>
          <a:p>
            <a:pPr marL="0" indent="0">
              <a:buNone/>
            </a:pPr>
            <a:r>
              <a:rPr lang="en-US" sz="1200" b="1" dirty="0">
                <a:solidFill>
                  <a:srgbClr val="6B1414"/>
                </a:solidFill>
                <a:latin typeface="Cambria" pitchFamily="34" charset="0"/>
                <a:ea typeface="Cambria" pitchFamily="34" charset="-122"/>
                <a:cs typeface="Cambria" pitchFamily="34" charset="-120"/>
              </a:rPr>
              <a:t>No searchable directory</a:t>
            </a:r>
            <a:endParaRPr lang="en-US" sz="1200" dirty="0"/>
          </a:p>
        </p:txBody>
      </p:sp>
      <p:sp>
        <p:nvSpPr>
          <p:cNvPr id="14" name="Text 12"/>
          <p:cNvSpPr/>
          <p:nvPr/>
        </p:nvSpPr>
        <p:spPr>
          <a:xfrm>
            <a:off x="3419856" y="3310128"/>
            <a:ext cx="2423160" cy="123444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A Tamil founder in New Jersey has no way to find a Tamil software agency in Chennai. The platform doesn't exist.</a:t>
            </a:r>
            <a:endParaRPr lang="en-US" sz="1050" dirty="0"/>
          </a:p>
        </p:txBody>
      </p:sp>
      <p:sp>
        <p:nvSpPr>
          <p:cNvPr id="15" name="Shape 13"/>
          <p:cNvSpPr/>
          <p:nvPr/>
        </p:nvSpPr>
        <p:spPr>
          <a:xfrm>
            <a:off x="6172200" y="2331720"/>
            <a:ext cx="2697480" cy="2331720"/>
          </a:xfrm>
          <a:prstGeom prst="rect">
            <a:avLst/>
          </a:prstGeom>
          <a:solidFill>
            <a:srgbClr val="FFF8E7"/>
          </a:solidFill>
          <a:ln w="12700">
            <a:solidFill>
              <a:srgbClr val="E8D98A"/>
            </a:solidFill>
            <a:prstDash val="solid"/>
          </a:ln>
          <a:effectLst>
            <a:outerShdw blurRad="101600" dist="38100" dir="8100000" algn="bl" rotWithShape="0">
              <a:srgbClr val="000000">
                <a:alpha val="12000"/>
              </a:srgbClr>
            </a:outerShdw>
          </a:effectLst>
        </p:spPr>
      </p:sp>
      <p:sp>
        <p:nvSpPr>
          <p:cNvPr id="16" name="Shape 14"/>
          <p:cNvSpPr/>
          <p:nvPr/>
        </p:nvSpPr>
        <p:spPr>
          <a:xfrm>
            <a:off x="6172200" y="2331720"/>
            <a:ext cx="2697480" cy="73152"/>
          </a:xfrm>
          <a:prstGeom prst="rect">
            <a:avLst/>
          </a:prstGeom>
          <a:solidFill>
            <a:srgbClr val="C69400"/>
          </a:solidFill>
          <a:ln w="12700">
            <a:solidFill>
              <a:srgbClr val="C69400"/>
            </a:solidFill>
            <a:prstDash val="solid"/>
          </a:ln>
        </p:spPr>
      </p:sp>
      <p:sp>
        <p:nvSpPr>
          <p:cNvPr id="17" name="Text 15"/>
          <p:cNvSpPr/>
          <p:nvPr/>
        </p:nvSpPr>
        <p:spPr>
          <a:xfrm>
            <a:off x="6281928" y="2441448"/>
            <a:ext cx="365760" cy="347472"/>
          </a:xfrm>
          <a:prstGeom prst="rect">
            <a:avLst/>
          </a:prstGeom>
          <a:noFill/>
          <a:ln/>
        </p:spPr>
        <p:txBody>
          <a:bodyPr wrap="square" lIns="0" tIns="0" rIns="0" bIns="0" rtlCol="0" anchor="ctr"/>
          <a:lstStyle/>
          <a:p>
            <a:pPr marL="0" indent="0">
              <a:buNone/>
            </a:pPr>
            <a:r>
              <a:rPr lang="en-US" sz="1600" b="1" dirty="0">
                <a:solidFill>
                  <a:srgbClr val="8B1A1A"/>
                </a:solidFill>
              </a:rPr>
              <a:t>✕</a:t>
            </a:r>
            <a:endParaRPr lang="en-US" sz="1600" dirty="0"/>
          </a:p>
        </p:txBody>
      </p:sp>
      <p:sp>
        <p:nvSpPr>
          <p:cNvPr id="18" name="Text 16"/>
          <p:cNvSpPr/>
          <p:nvPr/>
        </p:nvSpPr>
        <p:spPr>
          <a:xfrm>
            <a:off x="6300216" y="2834640"/>
            <a:ext cx="2423160" cy="438912"/>
          </a:xfrm>
          <a:prstGeom prst="rect">
            <a:avLst/>
          </a:prstGeom>
          <a:noFill/>
          <a:ln/>
        </p:spPr>
        <p:txBody>
          <a:bodyPr wrap="square" lIns="0" tIns="0" rIns="0" bIns="0" rtlCol="0" anchor="ctr"/>
          <a:lstStyle/>
          <a:p>
            <a:pPr marL="0" indent="0">
              <a:buNone/>
            </a:pPr>
            <a:r>
              <a:rPr lang="en-US" sz="1200" b="1" dirty="0">
                <a:solidFill>
                  <a:srgbClr val="6B1414"/>
                </a:solidFill>
                <a:latin typeface="Cambria" pitchFamily="34" charset="0"/>
                <a:ea typeface="Cambria" pitchFamily="34" charset="-122"/>
                <a:cs typeface="Cambria" pitchFamily="34" charset="-120"/>
              </a:rPr>
              <a:t>40 years of trust, zero digital presence</a:t>
            </a:r>
            <a:endParaRPr lang="en-US" sz="1200" dirty="0"/>
          </a:p>
        </p:txBody>
      </p:sp>
      <p:sp>
        <p:nvSpPr>
          <p:cNvPr id="19" name="Text 17"/>
          <p:cNvSpPr/>
          <p:nvPr/>
        </p:nvSpPr>
        <p:spPr>
          <a:xfrm>
            <a:off x="6300216" y="3310128"/>
            <a:ext cx="2423160" cy="123444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FeTNA's credibility lives offline. There is no way to surface it, verify it, or put it to work year-round.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0"/>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THE OPPORTUNITY</a:t>
            </a:r>
            <a:endParaRPr lang="en-US" sz="2000" dirty="0"/>
          </a:p>
        </p:txBody>
      </p:sp>
      <p:sp>
        <p:nvSpPr>
          <p:cNvPr id="4" name="Shape 2"/>
          <p:cNvSpPr/>
          <p:nvPr/>
        </p:nvSpPr>
        <p:spPr>
          <a:xfrm>
            <a:off x="384048" y="960120"/>
            <a:ext cx="2606040" cy="2423160"/>
          </a:xfrm>
          <a:prstGeom prst="rect">
            <a:avLst/>
          </a:prstGeom>
          <a:solidFill>
            <a:srgbClr val="FFFFFF"/>
          </a:solidFill>
          <a:ln w="12700">
            <a:solidFill>
              <a:srgbClr val="E0E0E0"/>
            </a:solidFill>
            <a:prstDash val="solid"/>
          </a:ln>
          <a:effectLst>
            <a:outerShdw blurRad="101600" dist="38100" dir="8100000" algn="bl" rotWithShape="0">
              <a:srgbClr val="000000">
                <a:alpha val="12000"/>
              </a:srgbClr>
            </a:outerShdw>
          </a:effectLst>
        </p:spPr>
      </p:sp>
      <p:sp>
        <p:nvSpPr>
          <p:cNvPr id="5" name="Shape 3"/>
          <p:cNvSpPr/>
          <p:nvPr/>
        </p:nvSpPr>
        <p:spPr>
          <a:xfrm>
            <a:off x="384048" y="960120"/>
            <a:ext cx="2606040" cy="91440"/>
          </a:xfrm>
          <a:prstGeom prst="rect">
            <a:avLst/>
          </a:prstGeom>
          <a:solidFill>
            <a:srgbClr val="C69400"/>
          </a:solidFill>
          <a:ln w="12700">
            <a:solidFill>
              <a:srgbClr val="C69400"/>
            </a:solidFill>
            <a:prstDash val="solid"/>
          </a:ln>
        </p:spPr>
      </p:sp>
      <p:sp>
        <p:nvSpPr>
          <p:cNvPr id="6" name="Text 4"/>
          <p:cNvSpPr/>
          <p:nvPr/>
        </p:nvSpPr>
        <p:spPr>
          <a:xfrm>
            <a:off x="475488" y="1188720"/>
            <a:ext cx="2423160" cy="914400"/>
          </a:xfrm>
          <a:prstGeom prst="rect">
            <a:avLst/>
          </a:prstGeom>
          <a:noFill/>
          <a:ln/>
        </p:spPr>
        <p:txBody>
          <a:bodyPr wrap="square" lIns="0" tIns="0" rIns="0" bIns="0" rtlCol="0" anchor="ctr"/>
          <a:lstStyle/>
          <a:p>
            <a:pPr marL="0" indent="0" algn="ctr">
              <a:buNone/>
            </a:pPr>
            <a:r>
              <a:rPr lang="en-US" sz="4400" b="1" dirty="0">
                <a:solidFill>
                  <a:srgbClr val="8B1A1A"/>
                </a:solidFill>
                <a:latin typeface="Cambria" pitchFamily="34" charset="0"/>
                <a:ea typeface="Cambria" pitchFamily="34" charset="-122"/>
                <a:cs typeface="Cambria" pitchFamily="34" charset="-120"/>
              </a:rPr>
              <a:t>~600K</a:t>
            </a:r>
            <a:endParaRPr lang="en-US" sz="4400" dirty="0"/>
          </a:p>
        </p:txBody>
      </p:sp>
      <p:sp>
        <p:nvSpPr>
          <p:cNvPr id="7" name="Text 5"/>
          <p:cNvSpPr/>
          <p:nvPr/>
        </p:nvSpPr>
        <p:spPr>
          <a:xfrm>
            <a:off x="475488" y="2148840"/>
            <a:ext cx="2423160" cy="77724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Tamil People in the US &amp; Canada</a:t>
            </a:r>
            <a:endParaRPr lang="en-US" sz="1200" dirty="0"/>
          </a:p>
        </p:txBody>
      </p:sp>
      <p:sp>
        <p:nvSpPr>
          <p:cNvPr id="8" name="Text 6"/>
          <p:cNvSpPr/>
          <p:nvPr/>
        </p:nvSpPr>
        <p:spPr>
          <a:xfrm>
            <a:off x="475488" y="2971800"/>
            <a:ext cx="2423160" cy="320040"/>
          </a:xfrm>
          <a:prstGeom prst="rect">
            <a:avLst/>
          </a:prstGeom>
          <a:noFill/>
          <a:ln/>
        </p:spPr>
        <p:txBody>
          <a:bodyPr wrap="square" lIns="0" tIns="0" rIns="0" bIns="0"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US &amp; Canadian Census</a:t>
            </a:r>
            <a:endParaRPr lang="en-US" sz="900" dirty="0"/>
          </a:p>
        </p:txBody>
      </p:sp>
      <p:sp>
        <p:nvSpPr>
          <p:cNvPr id="9" name="Shape 7"/>
          <p:cNvSpPr/>
          <p:nvPr/>
        </p:nvSpPr>
        <p:spPr>
          <a:xfrm>
            <a:off x="3200400" y="960120"/>
            <a:ext cx="2606040" cy="2423160"/>
          </a:xfrm>
          <a:prstGeom prst="rect">
            <a:avLst/>
          </a:prstGeom>
          <a:solidFill>
            <a:srgbClr val="FFFFFF"/>
          </a:solidFill>
          <a:ln w="12700">
            <a:solidFill>
              <a:srgbClr val="E0E0E0"/>
            </a:solidFill>
            <a:prstDash val="solid"/>
          </a:ln>
          <a:effectLst>
            <a:outerShdw blurRad="101600" dist="38100" dir="8100000" algn="bl" rotWithShape="0">
              <a:srgbClr val="000000">
                <a:alpha val="12000"/>
              </a:srgbClr>
            </a:outerShdw>
          </a:effectLst>
        </p:spPr>
      </p:sp>
      <p:sp>
        <p:nvSpPr>
          <p:cNvPr id="10" name="Shape 8"/>
          <p:cNvSpPr/>
          <p:nvPr/>
        </p:nvSpPr>
        <p:spPr>
          <a:xfrm>
            <a:off x="3200400" y="960120"/>
            <a:ext cx="2606040" cy="91440"/>
          </a:xfrm>
          <a:prstGeom prst="rect">
            <a:avLst/>
          </a:prstGeom>
          <a:solidFill>
            <a:srgbClr val="C69400"/>
          </a:solidFill>
          <a:ln w="12700">
            <a:solidFill>
              <a:srgbClr val="C69400"/>
            </a:solidFill>
            <a:prstDash val="solid"/>
          </a:ln>
        </p:spPr>
      </p:sp>
      <p:sp>
        <p:nvSpPr>
          <p:cNvPr id="11" name="Text 9"/>
          <p:cNvSpPr/>
          <p:nvPr/>
        </p:nvSpPr>
        <p:spPr>
          <a:xfrm>
            <a:off x="3291840" y="1188720"/>
            <a:ext cx="2423160" cy="914400"/>
          </a:xfrm>
          <a:prstGeom prst="rect">
            <a:avLst/>
          </a:prstGeom>
          <a:noFill/>
          <a:ln/>
        </p:spPr>
        <p:txBody>
          <a:bodyPr wrap="square" lIns="0" tIns="0" rIns="0" bIns="0" rtlCol="0" anchor="ctr"/>
          <a:lstStyle/>
          <a:p>
            <a:pPr marL="0" indent="0" algn="ctr">
              <a:buNone/>
            </a:pPr>
            <a:r>
              <a:rPr lang="en-US" sz="4400" b="1" dirty="0">
                <a:solidFill>
                  <a:srgbClr val="8B1A1A"/>
                </a:solidFill>
                <a:latin typeface="Cambria" pitchFamily="34" charset="0"/>
                <a:ea typeface="Cambria" pitchFamily="34" charset="-122"/>
                <a:cs typeface="Cambria" pitchFamily="34" charset="-120"/>
              </a:rPr>
              <a:t>71</a:t>
            </a:r>
            <a:endParaRPr lang="en-US" sz="4400" dirty="0"/>
          </a:p>
        </p:txBody>
      </p:sp>
      <p:sp>
        <p:nvSpPr>
          <p:cNvPr id="12" name="Text 10"/>
          <p:cNvSpPr/>
          <p:nvPr/>
        </p:nvSpPr>
        <p:spPr>
          <a:xfrm>
            <a:off x="3291840" y="2148840"/>
            <a:ext cx="2423160" cy="77724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Member Tamil Sangams in FeTNA</a:t>
            </a:r>
            <a:endParaRPr lang="en-US" sz="1200" dirty="0"/>
          </a:p>
        </p:txBody>
      </p:sp>
      <p:sp>
        <p:nvSpPr>
          <p:cNvPr id="13" name="Text 11"/>
          <p:cNvSpPr/>
          <p:nvPr/>
        </p:nvSpPr>
        <p:spPr>
          <a:xfrm>
            <a:off x="3291840" y="2971800"/>
            <a:ext cx="2423160" cy="320040"/>
          </a:xfrm>
          <a:prstGeom prst="rect">
            <a:avLst/>
          </a:prstGeom>
          <a:noFill/>
          <a:ln/>
        </p:spPr>
        <p:txBody>
          <a:bodyPr wrap="square" lIns="0" tIns="0" rIns="0" bIns="0"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FeTNA.org verified</a:t>
            </a:r>
            <a:endParaRPr lang="en-US" sz="900" dirty="0"/>
          </a:p>
        </p:txBody>
      </p:sp>
      <p:sp>
        <p:nvSpPr>
          <p:cNvPr id="14" name="Shape 12"/>
          <p:cNvSpPr/>
          <p:nvPr/>
        </p:nvSpPr>
        <p:spPr>
          <a:xfrm>
            <a:off x="6016752" y="960120"/>
            <a:ext cx="2606040" cy="2423160"/>
          </a:xfrm>
          <a:prstGeom prst="rect">
            <a:avLst/>
          </a:prstGeom>
          <a:solidFill>
            <a:srgbClr val="FFFFFF"/>
          </a:solidFill>
          <a:ln w="12700">
            <a:solidFill>
              <a:srgbClr val="E0E0E0"/>
            </a:solidFill>
            <a:prstDash val="solid"/>
          </a:ln>
          <a:effectLst>
            <a:outerShdw blurRad="101600" dist="38100" dir="8100000" algn="bl" rotWithShape="0">
              <a:srgbClr val="000000">
                <a:alpha val="12000"/>
              </a:srgbClr>
            </a:outerShdw>
          </a:effectLst>
        </p:spPr>
      </p:sp>
      <p:sp>
        <p:nvSpPr>
          <p:cNvPr id="15" name="Shape 13"/>
          <p:cNvSpPr/>
          <p:nvPr/>
        </p:nvSpPr>
        <p:spPr>
          <a:xfrm>
            <a:off x="6016752" y="960120"/>
            <a:ext cx="2606040" cy="91440"/>
          </a:xfrm>
          <a:prstGeom prst="rect">
            <a:avLst/>
          </a:prstGeom>
          <a:solidFill>
            <a:srgbClr val="C69400"/>
          </a:solidFill>
          <a:ln w="12700">
            <a:solidFill>
              <a:srgbClr val="C69400"/>
            </a:solidFill>
            <a:prstDash val="solid"/>
          </a:ln>
        </p:spPr>
      </p:sp>
      <p:sp>
        <p:nvSpPr>
          <p:cNvPr id="16" name="Text 14"/>
          <p:cNvSpPr/>
          <p:nvPr/>
        </p:nvSpPr>
        <p:spPr>
          <a:xfrm>
            <a:off x="6108192" y="1188720"/>
            <a:ext cx="2423160" cy="914400"/>
          </a:xfrm>
          <a:prstGeom prst="rect">
            <a:avLst/>
          </a:prstGeom>
          <a:noFill/>
          <a:ln/>
        </p:spPr>
        <p:txBody>
          <a:bodyPr wrap="square" lIns="0" tIns="0" rIns="0" bIns="0" rtlCol="0" anchor="ctr"/>
          <a:lstStyle/>
          <a:p>
            <a:pPr marL="0" indent="0" algn="ctr">
              <a:buNone/>
            </a:pPr>
            <a:r>
              <a:rPr lang="en-US" sz="4400" b="1" dirty="0">
                <a:solidFill>
                  <a:srgbClr val="8B1A1A"/>
                </a:solidFill>
                <a:latin typeface="Cambria" pitchFamily="34" charset="0"/>
                <a:ea typeface="Cambria" pitchFamily="34" charset="-122"/>
                <a:cs typeface="Cambria" pitchFamily="34" charset="-120"/>
              </a:rPr>
              <a:t>3,000+</a:t>
            </a:r>
            <a:endParaRPr lang="en-US" sz="4400" dirty="0"/>
          </a:p>
        </p:txBody>
      </p:sp>
      <p:sp>
        <p:nvSpPr>
          <p:cNvPr id="17" name="Text 15"/>
          <p:cNvSpPr/>
          <p:nvPr/>
        </p:nvSpPr>
        <p:spPr>
          <a:xfrm>
            <a:off x="6108192" y="2148840"/>
            <a:ext cx="2423160" cy="777240"/>
          </a:xfrm>
          <a:prstGeom prst="rect">
            <a:avLst/>
          </a:prstGeom>
          <a:noFill/>
          <a:ln/>
        </p:spPr>
        <p:txBody>
          <a:bodyPr wrap="square" lIns="0" tIns="0" rIns="0" bIns="0" rtlCol="0" anchor="ctr"/>
          <a:lstStyle/>
          <a:p>
            <a:pPr marL="0" indent="0" algn="ctr">
              <a:buNone/>
            </a:pPr>
            <a:r>
              <a:rPr lang="en-US" sz="1200" dirty="0">
                <a:solidFill>
                  <a:srgbClr val="1A1A1A"/>
                </a:solidFill>
                <a:latin typeface="Calibri" pitchFamily="34" charset="0"/>
                <a:ea typeface="Calibri" pitchFamily="34" charset="-122"/>
                <a:cs typeface="Calibri" pitchFamily="34" charset="-120"/>
              </a:rPr>
              <a:t>FeTNA Convention Attendees (2025)</a:t>
            </a:r>
            <a:endParaRPr lang="en-US" sz="1200" dirty="0"/>
          </a:p>
        </p:txBody>
      </p:sp>
      <p:sp>
        <p:nvSpPr>
          <p:cNvPr id="18" name="Text 16"/>
          <p:cNvSpPr/>
          <p:nvPr/>
        </p:nvSpPr>
        <p:spPr>
          <a:xfrm>
            <a:off x="6108192" y="2971800"/>
            <a:ext cx="2423160" cy="320040"/>
          </a:xfrm>
          <a:prstGeom prst="rect">
            <a:avLst/>
          </a:prstGeom>
          <a:noFill/>
          <a:ln/>
        </p:spPr>
        <p:txBody>
          <a:bodyPr wrap="square" lIns="0" tIns="0" rIns="0" bIns="0"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South Asian Herald, 2025</a:t>
            </a:r>
            <a:endParaRPr lang="en-US" sz="900" dirty="0"/>
          </a:p>
        </p:txBody>
      </p:sp>
      <p:sp>
        <p:nvSpPr>
          <p:cNvPr id="19" name="Text 17"/>
          <p:cNvSpPr/>
          <p:nvPr/>
        </p:nvSpPr>
        <p:spPr>
          <a:xfrm>
            <a:off x="457200" y="3703320"/>
            <a:ext cx="8229600" cy="411480"/>
          </a:xfrm>
          <a:prstGeom prst="rect">
            <a:avLst/>
          </a:prstGeom>
          <a:noFill/>
          <a:ln/>
        </p:spPr>
        <p:txBody>
          <a:bodyPr wrap="square" rtlCol="0" anchor="ctr"/>
          <a:lstStyle/>
          <a:p>
            <a:pPr marL="0" indent="0" algn="ctr">
              <a:buNone/>
            </a:pPr>
            <a:r>
              <a:rPr lang="en-US" sz="1300" i="1" dirty="0">
                <a:solidFill>
                  <a:srgbClr val="555555"/>
                </a:solidFill>
                <a:latin typeface="Calibri" pitchFamily="34" charset="0"/>
                <a:ea typeface="Calibri" pitchFamily="34" charset="-122"/>
                <a:cs typeface="Calibri" pitchFamily="34" charset="-120"/>
              </a:rPr>
              <a:t>Tamil diaspora entrepreneurship is accelerating — and FiTEN is already at the centre of this network.</a:t>
            </a:r>
            <a:endParaRPr lang="en-US" sz="1300" dirty="0"/>
          </a:p>
        </p:txBody>
      </p:sp>
      <p:sp>
        <p:nvSpPr>
          <p:cNvPr id="20" name="Text 18"/>
          <p:cNvSpPr/>
          <p:nvPr/>
        </p:nvSpPr>
        <p:spPr>
          <a:xfrm>
            <a:off x="457200" y="4206240"/>
            <a:ext cx="8229600" cy="365760"/>
          </a:xfrm>
          <a:prstGeom prst="rect">
            <a:avLst/>
          </a:prstGeom>
          <a:noFill/>
          <a:ln/>
        </p:spPr>
        <p:txBody>
          <a:bodyPr wrap="square" rtlCol="0" anchor="ctr"/>
          <a:lstStyle/>
          <a:p>
            <a:pPr marL="0" indent="0" algn="ctr">
              <a:buNone/>
            </a:pPr>
            <a:r>
              <a:rPr lang="en-US" sz="1300" b="1" dirty="0">
                <a:solidFill>
                  <a:srgbClr val="8B1A1A"/>
                </a:solidFill>
                <a:latin typeface="Cambria" pitchFamily="34" charset="0"/>
                <a:ea typeface="Cambria" pitchFamily="34" charset="-122"/>
                <a:cs typeface="Cambria" pitchFamily="34" charset="-120"/>
              </a:rPr>
              <a:t>No cold-start problem. No user acquisition cost. The community is already here.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WHAT WE’RE BUILDING</a:t>
            </a:r>
            <a:endParaRPr lang="en-US" sz="2000" dirty="0"/>
          </a:p>
        </p:txBody>
      </p:sp>
      <p:sp>
        <p:nvSpPr>
          <p:cNvPr id="4" name="Text 2"/>
          <p:cNvSpPr/>
          <p:nvPr/>
        </p:nvSpPr>
        <p:spPr>
          <a:xfrm>
            <a:off x="457200" y="822960"/>
            <a:ext cx="8229600" cy="347472"/>
          </a:xfrm>
          <a:prstGeom prst="rect">
            <a:avLst/>
          </a:prstGeom>
          <a:noFill/>
          <a:ln/>
        </p:spPr>
        <p:txBody>
          <a:bodyPr wrap="square" rtlCol="0" anchor="ctr"/>
          <a:lstStyle/>
          <a:p>
            <a:pPr marL="0" indent="0" algn="l">
              <a:buNone/>
            </a:pPr>
            <a:r>
              <a:rPr lang="en-US" sz="1150" dirty="0">
                <a:solidFill>
                  <a:srgbClr val="555555"/>
                </a:solidFill>
                <a:latin typeface="Calibri" pitchFamily="34" charset="0"/>
                <a:ea typeface="Calibri" pitchFamily="34" charset="-122"/>
                <a:cs typeface="Calibri" pitchFamily="34" charset="-120"/>
              </a:rPr>
              <a:t>A searchable, bilingual B2B networking platform on fiten.org — with six capabilities no general platform offers:</a:t>
            </a:r>
            <a:endParaRPr lang="en-US" sz="1150" dirty="0"/>
          </a:p>
        </p:txBody>
      </p:sp>
      <p:sp>
        <p:nvSpPr>
          <p:cNvPr id="5" name="Shape 3"/>
          <p:cNvSpPr/>
          <p:nvPr/>
        </p:nvSpPr>
        <p:spPr>
          <a:xfrm>
            <a:off x="320040" y="1261872"/>
            <a:ext cx="64008" cy="1024128"/>
          </a:xfrm>
          <a:prstGeom prst="rect">
            <a:avLst/>
          </a:prstGeom>
          <a:solidFill>
            <a:srgbClr val="C69400"/>
          </a:solidFill>
          <a:ln w="12700">
            <a:solidFill>
              <a:srgbClr val="C69400"/>
            </a:solidFill>
            <a:prstDash val="solid"/>
          </a:ln>
        </p:spPr>
      </p:sp>
      <p:sp>
        <p:nvSpPr>
          <p:cNvPr id="6" name="Shape 4"/>
          <p:cNvSpPr/>
          <p:nvPr/>
        </p:nvSpPr>
        <p:spPr>
          <a:xfrm>
            <a:off x="384048" y="1261872"/>
            <a:ext cx="4133088" cy="1024128"/>
          </a:xfrm>
          <a:prstGeom prst="rect">
            <a:avLst/>
          </a:prstGeom>
          <a:solidFill>
            <a:srgbClr val="FFF8E7"/>
          </a:solidFill>
          <a:ln w="6350">
            <a:solidFill>
              <a:srgbClr val="F0E8C0"/>
            </a:solidFill>
            <a:prstDash val="solid"/>
          </a:ln>
        </p:spPr>
      </p:sp>
      <p:sp>
        <p:nvSpPr>
          <p:cNvPr id="7" name="Text 5"/>
          <p:cNvSpPr/>
          <p:nvPr/>
        </p:nvSpPr>
        <p:spPr>
          <a:xfrm>
            <a:off x="502920" y="1335024"/>
            <a:ext cx="3913632" cy="274320"/>
          </a:xfrm>
          <a:prstGeom prst="rect">
            <a:avLst/>
          </a:prstGeom>
          <a:noFill/>
          <a:ln/>
        </p:spPr>
        <p:txBody>
          <a:bodyPr wrap="square" lIns="0" tIns="0" rIns="0" bIns="0" rtlCol="0" anchor="ctr"/>
          <a:lstStyle/>
          <a:p>
            <a:pPr marL="0" indent="0">
              <a:buNone/>
            </a:pPr>
            <a:r>
              <a:rPr lang="en-US" sz="1200" b="1" dirty="0">
                <a:solidFill>
                  <a:srgbClr val="6B1414"/>
                </a:solidFill>
                <a:latin typeface="Cambria" pitchFamily="34" charset="0"/>
                <a:ea typeface="Cambria" pitchFamily="34" charset="-122"/>
                <a:cs typeface="Cambria" pitchFamily="34" charset="-120"/>
              </a:rPr>
              <a:t>B2B Networking</a:t>
            </a:r>
            <a:endParaRPr lang="en-US" sz="1200" dirty="0"/>
          </a:p>
        </p:txBody>
      </p:sp>
      <p:sp>
        <p:nvSpPr>
          <p:cNvPr id="8" name="Text 6"/>
          <p:cNvSpPr/>
          <p:nvPr/>
        </p:nvSpPr>
        <p:spPr>
          <a:xfrm>
            <a:off x="502920" y="1645920"/>
            <a:ext cx="3913632" cy="566928"/>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Founders signal: Open to Partnership / Seeking Investment / Mentorship. Connect by industry, geography &amp; intent.</a:t>
            </a:r>
            <a:endParaRPr lang="en-US" sz="1000" dirty="0"/>
          </a:p>
        </p:txBody>
      </p:sp>
      <p:sp>
        <p:nvSpPr>
          <p:cNvPr id="9" name="Shape 7"/>
          <p:cNvSpPr/>
          <p:nvPr/>
        </p:nvSpPr>
        <p:spPr>
          <a:xfrm>
            <a:off x="4800600" y="1261872"/>
            <a:ext cx="64008" cy="1024128"/>
          </a:xfrm>
          <a:prstGeom prst="rect">
            <a:avLst/>
          </a:prstGeom>
          <a:solidFill>
            <a:srgbClr val="C69400"/>
          </a:solidFill>
          <a:ln w="12700">
            <a:solidFill>
              <a:srgbClr val="C69400"/>
            </a:solidFill>
            <a:prstDash val="solid"/>
          </a:ln>
        </p:spPr>
      </p:sp>
      <p:sp>
        <p:nvSpPr>
          <p:cNvPr id="10" name="Shape 8"/>
          <p:cNvSpPr/>
          <p:nvPr/>
        </p:nvSpPr>
        <p:spPr>
          <a:xfrm>
            <a:off x="4864608" y="1261872"/>
            <a:ext cx="4133088" cy="1024128"/>
          </a:xfrm>
          <a:prstGeom prst="rect">
            <a:avLst/>
          </a:prstGeom>
          <a:solidFill>
            <a:srgbClr val="FFF8E7"/>
          </a:solidFill>
          <a:ln w="6350">
            <a:solidFill>
              <a:srgbClr val="F0E8C0"/>
            </a:solidFill>
            <a:prstDash val="solid"/>
          </a:ln>
        </p:spPr>
      </p:sp>
      <p:sp>
        <p:nvSpPr>
          <p:cNvPr id="11" name="Text 9"/>
          <p:cNvSpPr/>
          <p:nvPr/>
        </p:nvSpPr>
        <p:spPr>
          <a:xfrm>
            <a:off x="4983480" y="1335024"/>
            <a:ext cx="3913632" cy="274320"/>
          </a:xfrm>
          <a:prstGeom prst="rect">
            <a:avLst/>
          </a:prstGeom>
          <a:noFill/>
          <a:ln/>
        </p:spPr>
        <p:txBody>
          <a:bodyPr wrap="square" lIns="0" tIns="0" rIns="0" bIns="0" rtlCol="0" anchor="ctr"/>
          <a:lstStyle/>
          <a:p>
            <a:pPr marL="0" indent="0">
              <a:buNone/>
            </a:pPr>
            <a:r>
              <a:rPr lang="en-US" sz="1200" b="1" dirty="0">
                <a:solidFill>
                  <a:srgbClr val="6B1414"/>
                </a:solidFill>
                <a:latin typeface="Cambria" pitchFamily="34" charset="0"/>
                <a:ea typeface="Cambria" pitchFamily="34" charset="-122"/>
                <a:cs typeface="Cambria" pitchFamily="34" charset="-120"/>
              </a:rPr>
              <a:t>Investor–Startup Pipeline</a:t>
            </a:r>
            <a:endParaRPr lang="en-US" sz="1200" dirty="0"/>
          </a:p>
        </p:txBody>
      </p:sp>
      <p:sp>
        <p:nvSpPr>
          <p:cNvPr id="12" name="Text 10"/>
          <p:cNvSpPr/>
          <p:nvPr/>
        </p:nvSpPr>
        <p:spPr>
          <a:xfrm>
            <a:off x="4983480" y="1645920"/>
            <a:ext cx="3913632" cy="566928"/>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Tamil startups flag funding stage &amp; sector. Tamil VCs filter by stage, geography &amp; industry — the only structured Tamil investor-startup matching in existence.</a:t>
            </a:r>
            <a:endParaRPr lang="en-US" sz="1000" dirty="0"/>
          </a:p>
        </p:txBody>
      </p:sp>
      <p:sp>
        <p:nvSpPr>
          <p:cNvPr id="13" name="Shape 11"/>
          <p:cNvSpPr/>
          <p:nvPr/>
        </p:nvSpPr>
        <p:spPr>
          <a:xfrm>
            <a:off x="320040" y="2496312"/>
            <a:ext cx="64008" cy="1024128"/>
          </a:xfrm>
          <a:prstGeom prst="rect">
            <a:avLst/>
          </a:prstGeom>
          <a:solidFill>
            <a:srgbClr val="C69400"/>
          </a:solidFill>
          <a:ln w="12700">
            <a:solidFill>
              <a:srgbClr val="C69400"/>
            </a:solidFill>
            <a:prstDash val="solid"/>
          </a:ln>
        </p:spPr>
      </p:sp>
      <p:sp>
        <p:nvSpPr>
          <p:cNvPr id="14" name="Shape 12"/>
          <p:cNvSpPr/>
          <p:nvPr/>
        </p:nvSpPr>
        <p:spPr>
          <a:xfrm>
            <a:off x="384048" y="2496312"/>
            <a:ext cx="4133088" cy="1024128"/>
          </a:xfrm>
          <a:prstGeom prst="rect">
            <a:avLst/>
          </a:prstGeom>
          <a:solidFill>
            <a:srgbClr val="FFF8E7"/>
          </a:solidFill>
          <a:ln w="6350">
            <a:solidFill>
              <a:srgbClr val="F0E8C0"/>
            </a:solidFill>
            <a:prstDash val="solid"/>
          </a:ln>
        </p:spPr>
      </p:sp>
      <p:sp>
        <p:nvSpPr>
          <p:cNvPr id="15" name="Text 13"/>
          <p:cNvSpPr/>
          <p:nvPr/>
        </p:nvSpPr>
        <p:spPr>
          <a:xfrm>
            <a:off x="502920" y="2569464"/>
            <a:ext cx="3913632" cy="274320"/>
          </a:xfrm>
          <a:prstGeom prst="rect">
            <a:avLst/>
          </a:prstGeom>
          <a:noFill/>
          <a:ln/>
        </p:spPr>
        <p:txBody>
          <a:bodyPr wrap="square" lIns="0" tIns="0" rIns="0" bIns="0" rtlCol="0" anchor="ctr"/>
          <a:lstStyle/>
          <a:p>
            <a:pPr marL="0" indent="0">
              <a:buNone/>
            </a:pPr>
            <a:r>
              <a:rPr lang="en-US" sz="1200" b="1" dirty="0">
                <a:solidFill>
                  <a:srgbClr val="6B1414"/>
                </a:solidFill>
                <a:latin typeface="Cambria" pitchFamily="34" charset="0"/>
                <a:ea typeface="Cambria" pitchFamily="34" charset="-122"/>
                <a:cs typeface="Cambria" pitchFamily="34" charset="-120"/>
              </a:rPr>
              <a:t>Cross-Border Commerce</a:t>
            </a:r>
            <a:endParaRPr lang="en-US" sz="1200" dirty="0"/>
          </a:p>
        </p:txBody>
      </p:sp>
      <p:sp>
        <p:nvSpPr>
          <p:cNvPr id="16" name="Text 14"/>
          <p:cNvSpPr/>
          <p:nvPr/>
        </p:nvSpPr>
        <p:spPr>
          <a:xfrm>
            <a:off x="502920" y="2880360"/>
            <a:ext cx="3913632" cy="566928"/>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Tamil IT firms in Chennai find US Tamil clients. Tamil founders in New Jersey source culturally-aligned vendors in India.</a:t>
            </a:r>
            <a:endParaRPr lang="en-US" sz="1000" dirty="0"/>
          </a:p>
        </p:txBody>
      </p:sp>
      <p:sp>
        <p:nvSpPr>
          <p:cNvPr id="17" name="Shape 15"/>
          <p:cNvSpPr/>
          <p:nvPr/>
        </p:nvSpPr>
        <p:spPr>
          <a:xfrm>
            <a:off x="4800600" y="2496312"/>
            <a:ext cx="64008" cy="1024128"/>
          </a:xfrm>
          <a:prstGeom prst="rect">
            <a:avLst/>
          </a:prstGeom>
          <a:solidFill>
            <a:srgbClr val="C69400"/>
          </a:solidFill>
          <a:ln w="12700">
            <a:solidFill>
              <a:srgbClr val="C69400"/>
            </a:solidFill>
            <a:prstDash val="solid"/>
          </a:ln>
        </p:spPr>
      </p:sp>
      <p:sp>
        <p:nvSpPr>
          <p:cNvPr id="18" name="Shape 16"/>
          <p:cNvSpPr/>
          <p:nvPr/>
        </p:nvSpPr>
        <p:spPr>
          <a:xfrm>
            <a:off x="4864608" y="2496312"/>
            <a:ext cx="4133088" cy="1024128"/>
          </a:xfrm>
          <a:prstGeom prst="rect">
            <a:avLst/>
          </a:prstGeom>
          <a:solidFill>
            <a:srgbClr val="FFF8E7"/>
          </a:solidFill>
          <a:ln w="6350">
            <a:solidFill>
              <a:srgbClr val="F0E8C0"/>
            </a:solidFill>
            <a:prstDash val="solid"/>
          </a:ln>
        </p:spPr>
      </p:sp>
      <p:sp>
        <p:nvSpPr>
          <p:cNvPr id="19" name="Text 17"/>
          <p:cNvSpPr/>
          <p:nvPr/>
        </p:nvSpPr>
        <p:spPr>
          <a:xfrm>
            <a:off x="4983480" y="2569464"/>
            <a:ext cx="3913632" cy="274320"/>
          </a:xfrm>
          <a:prstGeom prst="rect">
            <a:avLst/>
          </a:prstGeom>
          <a:noFill/>
          <a:ln/>
        </p:spPr>
        <p:txBody>
          <a:bodyPr wrap="square" lIns="0" tIns="0" rIns="0" bIns="0" rtlCol="0" anchor="ctr"/>
          <a:lstStyle/>
          <a:p>
            <a:pPr marL="0" indent="0">
              <a:buNone/>
            </a:pPr>
            <a:r>
              <a:rPr lang="en-US" sz="1200" b="1" dirty="0">
                <a:solidFill>
                  <a:srgbClr val="6B1414"/>
                </a:solidFill>
                <a:latin typeface="Cambria" pitchFamily="34" charset="0"/>
                <a:ea typeface="Cambria" pitchFamily="34" charset="-122"/>
                <a:cs typeface="Cambria" pitchFamily="34" charset="-120"/>
              </a:rPr>
              <a:t>Persistent Event Identity</a:t>
            </a:r>
            <a:endParaRPr lang="en-US" sz="1200" dirty="0"/>
          </a:p>
        </p:txBody>
      </p:sp>
      <p:sp>
        <p:nvSpPr>
          <p:cNvPr id="20" name="Text 18"/>
          <p:cNvSpPr/>
          <p:nvPr/>
        </p:nvSpPr>
        <p:spPr>
          <a:xfrm>
            <a:off x="4983480" y="2880360"/>
            <a:ext cx="3913632" cy="566928"/>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Every speaker, exhibitor &amp; award winner gets a permanent profile. Event history lives on the directory indefinitely.</a:t>
            </a:r>
            <a:endParaRPr lang="en-US" sz="1000" dirty="0"/>
          </a:p>
        </p:txBody>
      </p:sp>
      <p:sp>
        <p:nvSpPr>
          <p:cNvPr id="21" name="Shape 19"/>
          <p:cNvSpPr/>
          <p:nvPr/>
        </p:nvSpPr>
        <p:spPr>
          <a:xfrm>
            <a:off x="320040" y="3730752"/>
            <a:ext cx="64008" cy="1024128"/>
          </a:xfrm>
          <a:prstGeom prst="rect">
            <a:avLst/>
          </a:prstGeom>
          <a:solidFill>
            <a:srgbClr val="C69400"/>
          </a:solidFill>
          <a:ln w="12700">
            <a:solidFill>
              <a:srgbClr val="C69400"/>
            </a:solidFill>
            <a:prstDash val="solid"/>
          </a:ln>
        </p:spPr>
      </p:sp>
      <p:sp>
        <p:nvSpPr>
          <p:cNvPr id="22" name="Shape 20"/>
          <p:cNvSpPr/>
          <p:nvPr/>
        </p:nvSpPr>
        <p:spPr>
          <a:xfrm>
            <a:off x="384048" y="3730752"/>
            <a:ext cx="4133088" cy="1024128"/>
          </a:xfrm>
          <a:prstGeom prst="rect">
            <a:avLst/>
          </a:prstGeom>
          <a:solidFill>
            <a:srgbClr val="FFF8E7"/>
          </a:solidFill>
          <a:ln w="6350">
            <a:solidFill>
              <a:srgbClr val="F0E8C0"/>
            </a:solidFill>
            <a:prstDash val="solid"/>
          </a:ln>
        </p:spPr>
      </p:sp>
      <p:sp>
        <p:nvSpPr>
          <p:cNvPr id="23" name="Text 21"/>
          <p:cNvSpPr/>
          <p:nvPr/>
        </p:nvSpPr>
        <p:spPr>
          <a:xfrm>
            <a:off x="502920" y="3803904"/>
            <a:ext cx="3913632" cy="274320"/>
          </a:xfrm>
          <a:prstGeom prst="rect">
            <a:avLst/>
          </a:prstGeom>
          <a:noFill/>
          <a:ln/>
        </p:spPr>
        <p:txBody>
          <a:bodyPr wrap="square" lIns="0" tIns="0" rIns="0" bIns="0" rtlCol="0" anchor="ctr"/>
          <a:lstStyle/>
          <a:p>
            <a:pPr marL="0" indent="0">
              <a:buNone/>
            </a:pPr>
            <a:r>
              <a:rPr lang="en-US" sz="1200" b="1" dirty="0">
                <a:solidFill>
                  <a:srgbClr val="6B1414"/>
                </a:solidFill>
                <a:latin typeface="Cambria" pitchFamily="34" charset="0"/>
                <a:ea typeface="Cambria" pitchFamily="34" charset="-122"/>
                <a:cs typeface="Cambria" pitchFamily="34" charset="-120"/>
              </a:rPr>
              <a:t>Verified Trust Badge</a:t>
            </a:r>
            <a:endParaRPr lang="en-US" sz="1200" dirty="0"/>
          </a:p>
        </p:txBody>
      </p:sp>
      <p:sp>
        <p:nvSpPr>
          <p:cNvPr id="24" name="Text 22"/>
          <p:cNvSpPr/>
          <p:nvPr/>
        </p:nvSpPr>
        <p:spPr>
          <a:xfrm>
            <a:off x="502920" y="4114800"/>
            <a:ext cx="3913632" cy="566928"/>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“Verified FiTEN Member” badge — free for all active members. Backed by 40 years of FeTNA credibility no star rating can match.</a:t>
            </a:r>
            <a:endParaRPr lang="en-US" sz="1000" dirty="0"/>
          </a:p>
        </p:txBody>
      </p:sp>
      <p:sp>
        <p:nvSpPr>
          <p:cNvPr id="25" name="Shape 23"/>
          <p:cNvSpPr/>
          <p:nvPr/>
        </p:nvSpPr>
        <p:spPr>
          <a:xfrm>
            <a:off x="4800600" y="3730752"/>
            <a:ext cx="64008" cy="1024128"/>
          </a:xfrm>
          <a:prstGeom prst="rect">
            <a:avLst/>
          </a:prstGeom>
          <a:solidFill>
            <a:srgbClr val="C69400"/>
          </a:solidFill>
          <a:ln w="12700">
            <a:solidFill>
              <a:srgbClr val="C69400"/>
            </a:solidFill>
            <a:prstDash val="solid"/>
          </a:ln>
        </p:spPr>
      </p:sp>
      <p:sp>
        <p:nvSpPr>
          <p:cNvPr id="26" name="Shape 24"/>
          <p:cNvSpPr/>
          <p:nvPr/>
        </p:nvSpPr>
        <p:spPr>
          <a:xfrm>
            <a:off x="4864608" y="3730752"/>
            <a:ext cx="4133088" cy="1024128"/>
          </a:xfrm>
          <a:prstGeom prst="rect">
            <a:avLst/>
          </a:prstGeom>
          <a:solidFill>
            <a:srgbClr val="FFF8E7"/>
          </a:solidFill>
          <a:ln w="6350">
            <a:solidFill>
              <a:srgbClr val="F0E8C0"/>
            </a:solidFill>
            <a:prstDash val="solid"/>
          </a:ln>
        </p:spPr>
      </p:sp>
      <p:sp>
        <p:nvSpPr>
          <p:cNvPr id="27" name="Text 25"/>
          <p:cNvSpPr/>
          <p:nvPr/>
        </p:nvSpPr>
        <p:spPr>
          <a:xfrm>
            <a:off x="4983480" y="3803904"/>
            <a:ext cx="3913632" cy="274320"/>
          </a:xfrm>
          <a:prstGeom prst="rect">
            <a:avLst/>
          </a:prstGeom>
          <a:noFill/>
          <a:ln/>
        </p:spPr>
        <p:txBody>
          <a:bodyPr wrap="square" lIns="0" tIns="0" rIns="0" bIns="0" rtlCol="0" anchor="ctr"/>
          <a:lstStyle/>
          <a:p>
            <a:pPr marL="0" indent="0">
              <a:buNone/>
            </a:pPr>
            <a:r>
              <a:rPr lang="en-US" sz="1200" b="1" dirty="0">
                <a:solidFill>
                  <a:srgbClr val="6B1414"/>
                </a:solidFill>
                <a:latin typeface="Cambria" pitchFamily="34" charset="0"/>
                <a:ea typeface="Cambria" pitchFamily="34" charset="-122"/>
                <a:cs typeface="Cambria" pitchFamily="34" charset="-120"/>
              </a:rPr>
              <a:t>Bilingual EN + Tamil</a:t>
            </a:r>
            <a:endParaRPr lang="en-US" sz="1200" dirty="0"/>
          </a:p>
        </p:txBody>
      </p:sp>
      <p:sp>
        <p:nvSpPr>
          <p:cNvPr id="28" name="Text 26"/>
          <p:cNvSpPr/>
          <p:nvPr/>
        </p:nvSpPr>
        <p:spPr>
          <a:xfrm>
            <a:off x="4983480" y="4114800"/>
            <a:ext cx="3913632" cy="566928"/>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Full English and Tamil-script interface. Tamil-language descriptions and search serve both diaspora and Tamil Nadu-based businesses.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F0"/>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6B1414"/>
          </a:solidFill>
          <a:ln w="12700">
            <a:solidFill>
              <a:srgbClr val="6B1414"/>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WHY ONLY FiTEN CAN DO THIS</a:t>
            </a:r>
            <a:endParaRPr lang="en-US" sz="2000" dirty="0"/>
          </a:p>
        </p:txBody>
      </p:sp>
      <p:sp>
        <p:nvSpPr>
          <p:cNvPr id="4" name="Shape 2"/>
          <p:cNvSpPr/>
          <p:nvPr/>
        </p:nvSpPr>
        <p:spPr>
          <a:xfrm>
            <a:off x="320040" y="960120"/>
            <a:ext cx="4160520" cy="1755648"/>
          </a:xfrm>
          <a:prstGeom prst="rect">
            <a:avLst/>
          </a:prstGeom>
          <a:solidFill>
            <a:srgbClr val="FFFFFF"/>
          </a:solidFill>
          <a:ln w="6350">
            <a:solidFill>
              <a:srgbClr val="D8D8D8"/>
            </a:solidFill>
            <a:prstDash val="solid"/>
          </a:ln>
          <a:effectLst>
            <a:outerShdw blurRad="101600" dist="38100" dir="8100000" algn="bl" rotWithShape="0">
              <a:srgbClr val="000000">
                <a:alpha val="12000"/>
              </a:srgbClr>
            </a:outerShdw>
          </a:effectLst>
        </p:spPr>
      </p:sp>
      <p:sp>
        <p:nvSpPr>
          <p:cNvPr id="5" name="Shape 3"/>
          <p:cNvSpPr/>
          <p:nvPr/>
        </p:nvSpPr>
        <p:spPr>
          <a:xfrm>
            <a:off x="429768" y="1106424"/>
            <a:ext cx="475488" cy="475488"/>
          </a:xfrm>
          <a:prstGeom prst="rect">
            <a:avLst/>
          </a:prstGeom>
          <a:solidFill>
            <a:srgbClr val="8B1A1A"/>
          </a:solidFill>
          <a:ln w="12700">
            <a:solidFill>
              <a:srgbClr val="8B1A1A"/>
            </a:solidFill>
            <a:prstDash val="solid"/>
          </a:ln>
        </p:spPr>
      </p:sp>
      <p:sp>
        <p:nvSpPr>
          <p:cNvPr id="6" name="Text 4"/>
          <p:cNvSpPr/>
          <p:nvPr/>
        </p:nvSpPr>
        <p:spPr>
          <a:xfrm>
            <a:off x="429768" y="1106424"/>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7" name="Text 5"/>
          <p:cNvSpPr/>
          <p:nvPr/>
        </p:nvSpPr>
        <p:spPr>
          <a:xfrm>
            <a:off x="996696" y="1124712"/>
            <a:ext cx="3364992" cy="365760"/>
          </a:xfrm>
          <a:prstGeom prst="rect">
            <a:avLst/>
          </a:prstGeom>
          <a:noFill/>
          <a:ln/>
        </p:spPr>
        <p:txBody>
          <a:bodyPr wrap="square" lIns="0" tIns="0" rIns="0" bIns="0" rtlCol="0" anchor="ctr"/>
          <a:lstStyle/>
          <a:p>
            <a:pPr marL="0" indent="0">
              <a:buNone/>
            </a:pPr>
            <a:r>
              <a:rPr lang="en-US" sz="1300" b="1" dirty="0">
                <a:solidFill>
                  <a:srgbClr val="6B1414"/>
                </a:solidFill>
                <a:latin typeface="Cambria" pitchFamily="34" charset="0"/>
                <a:ea typeface="Cambria" pitchFamily="34" charset="-122"/>
                <a:cs typeface="Cambria" pitchFamily="34" charset="-120"/>
              </a:rPr>
              <a:t>40 Years of FeTNA Trust</a:t>
            </a:r>
            <a:endParaRPr lang="en-US" sz="1300" dirty="0"/>
          </a:p>
        </p:txBody>
      </p:sp>
      <p:sp>
        <p:nvSpPr>
          <p:cNvPr id="8" name="Shape 6"/>
          <p:cNvSpPr/>
          <p:nvPr/>
        </p:nvSpPr>
        <p:spPr>
          <a:xfrm>
            <a:off x="429768" y="1655064"/>
            <a:ext cx="3931920" cy="27432"/>
          </a:xfrm>
          <a:prstGeom prst="rect">
            <a:avLst/>
          </a:prstGeom>
          <a:solidFill>
            <a:srgbClr val="E8E8E8"/>
          </a:solidFill>
          <a:ln w="12700">
            <a:solidFill>
              <a:srgbClr val="E8E8E8"/>
            </a:solidFill>
            <a:prstDash val="solid"/>
          </a:ln>
        </p:spPr>
      </p:sp>
      <p:sp>
        <p:nvSpPr>
          <p:cNvPr id="9" name="Text 7"/>
          <p:cNvSpPr/>
          <p:nvPr/>
        </p:nvSpPr>
        <p:spPr>
          <a:xfrm>
            <a:off x="448056" y="1746504"/>
            <a:ext cx="3913632" cy="86868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The “Verified FiTEN Member” badge carries community credibility that no algorithm or star rating can replicate. For high-stakes B2B decisions — legal, financial, tech — this matters enormously.</a:t>
            </a:r>
            <a:endParaRPr lang="en-US" sz="1050" dirty="0"/>
          </a:p>
        </p:txBody>
      </p:sp>
      <p:sp>
        <p:nvSpPr>
          <p:cNvPr id="10" name="Shape 8"/>
          <p:cNvSpPr/>
          <p:nvPr/>
        </p:nvSpPr>
        <p:spPr>
          <a:xfrm>
            <a:off x="4800600" y="960120"/>
            <a:ext cx="4160520" cy="1755648"/>
          </a:xfrm>
          <a:prstGeom prst="rect">
            <a:avLst/>
          </a:prstGeom>
          <a:solidFill>
            <a:srgbClr val="FFFFFF"/>
          </a:solidFill>
          <a:ln w="6350">
            <a:solidFill>
              <a:srgbClr val="D8D8D8"/>
            </a:solidFill>
            <a:prstDash val="solid"/>
          </a:ln>
          <a:effectLst>
            <a:outerShdw blurRad="101600" dist="38100" dir="8100000" algn="bl" rotWithShape="0">
              <a:srgbClr val="000000">
                <a:alpha val="12000"/>
              </a:srgbClr>
            </a:outerShdw>
          </a:effectLst>
        </p:spPr>
      </p:sp>
      <p:sp>
        <p:nvSpPr>
          <p:cNvPr id="11" name="Shape 9"/>
          <p:cNvSpPr/>
          <p:nvPr/>
        </p:nvSpPr>
        <p:spPr>
          <a:xfrm>
            <a:off x="4910328" y="1106424"/>
            <a:ext cx="475488" cy="475488"/>
          </a:xfrm>
          <a:prstGeom prst="rect">
            <a:avLst/>
          </a:prstGeom>
          <a:solidFill>
            <a:srgbClr val="8B5E00"/>
          </a:solidFill>
          <a:ln w="12700">
            <a:solidFill>
              <a:srgbClr val="8B5E00"/>
            </a:solidFill>
            <a:prstDash val="solid"/>
          </a:ln>
        </p:spPr>
      </p:sp>
      <p:sp>
        <p:nvSpPr>
          <p:cNvPr id="12" name="Text 10"/>
          <p:cNvSpPr/>
          <p:nvPr/>
        </p:nvSpPr>
        <p:spPr>
          <a:xfrm>
            <a:off x="4910328" y="1106424"/>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3" name="Text 11"/>
          <p:cNvSpPr/>
          <p:nvPr/>
        </p:nvSpPr>
        <p:spPr>
          <a:xfrm>
            <a:off x="5477256" y="1124712"/>
            <a:ext cx="3364992" cy="365760"/>
          </a:xfrm>
          <a:prstGeom prst="rect">
            <a:avLst/>
          </a:prstGeom>
          <a:noFill/>
          <a:ln/>
        </p:spPr>
        <p:txBody>
          <a:bodyPr wrap="square" lIns="0" tIns="0" rIns="0" bIns="0" rtlCol="0" anchor="ctr"/>
          <a:lstStyle/>
          <a:p>
            <a:pPr marL="0" indent="0">
              <a:buNone/>
            </a:pPr>
            <a:r>
              <a:rPr lang="en-US" sz="1300" b="1" dirty="0">
                <a:solidFill>
                  <a:srgbClr val="6B1414"/>
                </a:solidFill>
                <a:latin typeface="Cambria" pitchFamily="34" charset="0"/>
                <a:ea typeface="Cambria" pitchFamily="34" charset="-122"/>
                <a:cs typeface="Cambria" pitchFamily="34" charset="-120"/>
              </a:rPr>
              <a:t>A Network Already Built</a:t>
            </a:r>
            <a:endParaRPr lang="en-US" sz="1300" dirty="0"/>
          </a:p>
        </p:txBody>
      </p:sp>
      <p:sp>
        <p:nvSpPr>
          <p:cNvPr id="14" name="Shape 12"/>
          <p:cNvSpPr/>
          <p:nvPr/>
        </p:nvSpPr>
        <p:spPr>
          <a:xfrm>
            <a:off x="4910328" y="1655064"/>
            <a:ext cx="3931920" cy="27432"/>
          </a:xfrm>
          <a:prstGeom prst="rect">
            <a:avLst/>
          </a:prstGeom>
          <a:solidFill>
            <a:srgbClr val="E8E8E8"/>
          </a:solidFill>
          <a:ln w="12700">
            <a:solidFill>
              <a:srgbClr val="E8E8E8"/>
            </a:solidFill>
            <a:prstDash val="solid"/>
          </a:ln>
        </p:spPr>
      </p:sp>
      <p:sp>
        <p:nvSpPr>
          <p:cNvPr id="15" name="Text 13"/>
          <p:cNvSpPr/>
          <p:nvPr/>
        </p:nvSpPr>
        <p:spPr>
          <a:xfrm>
            <a:off x="4928616" y="1746504"/>
            <a:ext cx="3913632" cy="86868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FiTEN doesn’t start from zero. 1,000+ annual event attendees, 100+ Sangams, and a living roster of speakers and award winners are our founding members. No cold-start problem.</a:t>
            </a:r>
            <a:endParaRPr lang="en-US" sz="1050" dirty="0"/>
          </a:p>
        </p:txBody>
      </p:sp>
      <p:sp>
        <p:nvSpPr>
          <p:cNvPr id="16" name="Shape 14"/>
          <p:cNvSpPr/>
          <p:nvPr/>
        </p:nvSpPr>
        <p:spPr>
          <a:xfrm>
            <a:off x="320040" y="2926080"/>
            <a:ext cx="4160520" cy="1755648"/>
          </a:xfrm>
          <a:prstGeom prst="rect">
            <a:avLst/>
          </a:prstGeom>
          <a:solidFill>
            <a:srgbClr val="FFFFFF"/>
          </a:solidFill>
          <a:ln w="6350">
            <a:solidFill>
              <a:srgbClr val="D8D8D8"/>
            </a:solidFill>
            <a:prstDash val="solid"/>
          </a:ln>
          <a:effectLst>
            <a:outerShdw blurRad="101600" dist="38100" dir="8100000" algn="bl" rotWithShape="0">
              <a:srgbClr val="000000">
                <a:alpha val="12000"/>
              </a:srgbClr>
            </a:outerShdw>
          </a:effectLst>
        </p:spPr>
      </p:sp>
      <p:sp>
        <p:nvSpPr>
          <p:cNvPr id="17" name="Shape 15"/>
          <p:cNvSpPr/>
          <p:nvPr/>
        </p:nvSpPr>
        <p:spPr>
          <a:xfrm>
            <a:off x="429768" y="3072384"/>
            <a:ext cx="475488" cy="475488"/>
          </a:xfrm>
          <a:prstGeom prst="rect">
            <a:avLst/>
          </a:prstGeom>
          <a:solidFill>
            <a:srgbClr val="006B75"/>
          </a:solidFill>
          <a:ln w="12700">
            <a:solidFill>
              <a:srgbClr val="006B75"/>
            </a:solidFill>
            <a:prstDash val="solid"/>
          </a:ln>
        </p:spPr>
      </p:sp>
      <p:sp>
        <p:nvSpPr>
          <p:cNvPr id="18" name="Text 16"/>
          <p:cNvSpPr/>
          <p:nvPr/>
        </p:nvSpPr>
        <p:spPr>
          <a:xfrm>
            <a:off x="429768" y="3072384"/>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19" name="Text 17"/>
          <p:cNvSpPr/>
          <p:nvPr/>
        </p:nvSpPr>
        <p:spPr>
          <a:xfrm>
            <a:off x="996696" y="3090672"/>
            <a:ext cx="3364992" cy="365760"/>
          </a:xfrm>
          <a:prstGeom prst="rect">
            <a:avLst/>
          </a:prstGeom>
          <a:noFill/>
          <a:ln/>
        </p:spPr>
        <p:txBody>
          <a:bodyPr wrap="square" lIns="0" tIns="0" rIns="0" bIns="0" rtlCol="0" anchor="ctr"/>
          <a:lstStyle/>
          <a:p>
            <a:pPr marL="0" indent="0">
              <a:buNone/>
            </a:pPr>
            <a:r>
              <a:rPr lang="en-US" sz="1300" b="1" dirty="0">
                <a:solidFill>
                  <a:srgbClr val="6B1414"/>
                </a:solidFill>
                <a:latin typeface="Cambria" pitchFamily="34" charset="0"/>
                <a:ea typeface="Cambria" pitchFamily="34" charset="-122"/>
                <a:cs typeface="Cambria" pitchFamily="34" charset="-120"/>
              </a:rPr>
              <a:t>No Competitor Comes Close</a:t>
            </a:r>
            <a:endParaRPr lang="en-US" sz="1300" dirty="0"/>
          </a:p>
        </p:txBody>
      </p:sp>
      <p:sp>
        <p:nvSpPr>
          <p:cNvPr id="20" name="Shape 18"/>
          <p:cNvSpPr/>
          <p:nvPr/>
        </p:nvSpPr>
        <p:spPr>
          <a:xfrm>
            <a:off x="429768" y="3621024"/>
            <a:ext cx="3931920" cy="27432"/>
          </a:xfrm>
          <a:prstGeom prst="rect">
            <a:avLst/>
          </a:prstGeom>
          <a:solidFill>
            <a:srgbClr val="E8E8E8"/>
          </a:solidFill>
          <a:ln w="12700">
            <a:solidFill>
              <a:srgbClr val="E8E8E8"/>
            </a:solidFill>
            <a:prstDash val="solid"/>
          </a:ln>
        </p:spPr>
      </p:sp>
      <p:sp>
        <p:nvSpPr>
          <p:cNvPr id="21" name="Text 19"/>
          <p:cNvSpPr/>
          <p:nvPr/>
        </p:nvSpPr>
        <p:spPr>
          <a:xfrm>
            <a:off x="448056" y="3712464"/>
            <a:ext cx="3913632" cy="86868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Google finds restaurants. LinkedIn has no Tamil filter. Facebook has no structured profiles. Not one platform combines Tamil identity, B2B networking, investor matching, and event identity.</a:t>
            </a:r>
            <a:endParaRPr lang="en-US" sz="1050" dirty="0"/>
          </a:p>
        </p:txBody>
      </p:sp>
      <p:sp>
        <p:nvSpPr>
          <p:cNvPr id="22" name="Shape 20"/>
          <p:cNvSpPr/>
          <p:nvPr/>
        </p:nvSpPr>
        <p:spPr>
          <a:xfrm>
            <a:off x="4800600" y="2926080"/>
            <a:ext cx="4160520" cy="1755648"/>
          </a:xfrm>
          <a:prstGeom prst="rect">
            <a:avLst/>
          </a:prstGeom>
          <a:solidFill>
            <a:srgbClr val="FFFFFF"/>
          </a:solidFill>
          <a:ln w="6350">
            <a:solidFill>
              <a:srgbClr val="D8D8D8"/>
            </a:solidFill>
            <a:prstDash val="solid"/>
          </a:ln>
          <a:effectLst>
            <a:outerShdw blurRad="101600" dist="38100" dir="8100000" algn="bl" rotWithShape="0">
              <a:srgbClr val="000000">
                <a:alpha val="12000"/>
              </a:srgbClr>
            </a:outerShdw>
          </a:effectLst>
        </p:spPr>
      </p:sp>
      <p:sp>
        <p:nvSpPr>
          <p:cNvPr id="23" name="Shape 21"/>
          <p:cNvSpPr/>
          <p:nvPr/>
        </p:nvSpPr>
        <p:spPr>
          <a:xfrm>
            <a:off x="4910328" y="3072384"/>
            <a:ext cx="475488" cy="475488"/>
          </a:xfrm>
          <a:prstGeom prst="rect">
            <a:avLst/>
          </a:prstGeom>
          <a:solidFill>
            <a:srgbClr val="3A5A8C"/>
          </a:solidFill>
          <a:ln w="12700">
            <a:solidFill>
              <a:srgbClr val="3A5A8C"/>
            </a:solidFill>
            <a:prstDash val="solid"/>
          </a:ln>
        </p:spPr>
      </p:sp>
      <p:sp>
        <p:nvSpPr>
          <p:cNvPr id="24" name="Text 22"/>
          <p:cNvSpPr/>
          <p:nvPr/>
        </p:nvSpPr>
        <p:spPr>
          <a:xfrm>
            <a:off x="4910328" y="3072384"/>
            <a:ext cx="475488" cy="475488"/>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25" name="Text 23"/>
          <p:cNvSpPr/>
          <p:nvPr/>
        </p:nvSpPr>
        <p:spPr>
          <a:xfrm>
            <a:off x="5477256" y="3090672"/>
            <a:ext cx="3364992" cy="365760"/>
          </a:xfrm>
          <a:prstGeom prst="rect">
            <a:avLst/>
          </a:prstGeom>
          <a:noFill/>
          <a:ln/>
        </p:spPr>
        <p:txBody>
          <a:bodyPr wrap="square" lIns="0" tIns="0" rIns="0" bIns="0" rtlCol="0" anchor="ctr"/>
          <a:lstStyle/>
          <a:p>
            <a:pPr marL="0" indent="0">
              <a:buNone/>
            </a:pPr>
            <a:r>
              <a:rPr lang="en-US" sz="1300" b="1" dirty="0">
                <a:solidFill>
                  <a:srgbClr val="6B1414"/>
                </a:solidFill>
                <a:latin typeface="Cambria" pitchFamily="34" charset="0"/>
                <a:ea typeface="Cambria" pitchFamily="34" charset="-122"/>
                <a:cs typeface="Cambria" pitchFamily="34" charset="-120"/>
              </a:rPr>
              <a:t>Cross-Border Context is Unique</a:t>
            </a:r>
            <a:endParaRPr lang="en-US" sz="1300" dirty="0"/>
          </a:p>
        </p:txBody>
      </p:sp>
      <p:sp>
        <p:nvSpPr>
          <p:cNvPr id="26" name="Shape 24"/>
          <p:cNvSpPr/>
          <p:nvPr/>
        </p:nvSpPr>
        <p:spPr>
          <a:xfrm>
            <a:off x="4910328" y="3621024"/>
            <a:ext cx="3931920" cy="27432"/>
          </a:xfrm>
          <a:prstGeom prst="rect">
            <a:avLst/>
          </a:prstGeom>
          <a:solidFill>
            <a:srgbClr val="E8E8E8"/>
          </a:solidFill>
          <a:ln w="12700">
            <a:solidFill>
              <a:srgbClr val="E8E8E8"/>
            </a:solidFill>
            <a:prstDash val="solid"/>
          </a:ln>
        </p:spPr>
      </p:sp>
      <p:sp>
        <p:nvSpPr>
          <p:cNvPr id="27" name="Text 25"/>
          <p:cNvSpPr/>
          <p:nvPr/>
        </p:nvSpPr>
        <p:spPr>
          <a:xfrm>
            <a:off x="4928616" y="3712464"/>
            <a:ext cx="3913632" cy="86868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A Tamil IT firm in Chennai wanting US Tamil clients has nowhere to signal this today. FiTEN is the only organisation with the credibility to bridge both sides of this market.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THE LISTING MODEL</a:t>
            </a:r>
            <a:endParaRPr lang="en-US" sz="2000" dirty="0"/>
          </a:p>
        </p:txBody>
      </p:sp>
      <p:sp>
        <p:nvSpPr>
          <p:cNvPr id="4" name="Text 2"/>
          <p:cNvSpPr/>
          <p:nvPr/>
        </p:nvSpPr>
        <p:spPr>
          <a:xfrm>
            <a:off x="457200" y="822960"/>
            <a:ext cx="8229600" cy="347472"/>
          </a:xfrm>
          <a:prstGeom prst="rect">
            <a:avLst/>
          </a:prstGeom>
          <a:noFill/>
          <a:ln/>
        </p:spPr>
        <p:txBody>
          <a:bodyPr wrap="square" rtlCol="0" anchor="ctr"/>
          <a:lstStyle/>
          <a:p>
            <a:pPr marL="0" indent="0">
              <a:buNone/>
            </a:pPr>
            <a:r>
              <a:rPr lang="en-US" sz="1200" dirty="0">
                <a:solidFill>
                  <a:srgbClr val="555555"/>
                </a:solidFill>
                <a:latin typeface="Calibri" pitchFamily="34" charset="0"/>
                <a:ea typeface="Calibri" pitchFamily="34" charset="-122"/>
                <a:cs typeface="Calibri" pitchFamily="34" charset="-120"/>
              </a:rPr>
              <a:t>Two tiers — simple and focused. The Verified FiTEN Member badge is free for all active members.</a:t>
            </a:r>
            <a:endParaRPr lang="en-US" sz="1200" dirty="0"/>
          </a:p>
        </p:txBody>
      </p:sp>
      <p:sp>
        <p:nvSpPr>
          <p:cNvPr id="5" name="Shape 3"/>
          <p:cNvSpPr/>
          <p:nvPr/>
        </p:nvSpPr>
        <p:spPr>
          <a:xfrm>
            <a:off x="457200" y="1261872"/>
            <a:ext cx="3840480" cy="566928"/>
          </a:xfrm>
          <a:prstGeom prst="rect">
            <a:avLst/>
          </a:prstGeom>
          <a:solidFill>
            <a:srgbClr val="F5F4F0"/>
          </a:solidFill>
          <a:ln w="12700">
            <a:solidFill>
              <a:srgbClr val="C8C8C8"/>
            </a:solidFill>
            <a:prstDash val="solid"/>
          </a:ln>
        </p:spPr>
      </p:sp>
      <p:sp>
        <p:nvSpPr>
          <p:cNvPr id="6" name="Text 4"/>
          <p:cNvSpPr/>
          <p:nvPr/>
        </p:nvSpPr>
        <p:spPr>
          <a:xfrm>
            <a:off x="457200" y="1261872"/>
            <a:ext cx="3840480" cy="566928"/>
          </a:xfrm>
          <a:prstGeom prst="rect">
            <a:avLst/>
          </a:prstGeom>
          <a:noFill/>
          <a:ln/>
        </p:spPr>
        <p:txBody>
          <a:bodyPr wrap="square" lIns="0" tIns="0" rIns="0" bIns="0" rtlCol="0" anchor="ctr"/>
          <a:lstStyle/>
          <a:p>
            <a:pPr marL="0" indent="0" algn="ctr">
              <a:buNone/>
            </a:pPr>
            <a:r>
              <a:rPr lang="en-US" sz="1500" b="1" dirty="0">
                <a:solidFill>
                  <a:srgbClr val="1A1A1A"/>
                </a:solidFill>
                <a:latin typeface="Cambria" pitchFamily="34" charset="0"/>
                <a:ea typeface="Cambria" pitchFamily="34" charset="-122"/>
                <a:cs typeface="Cambria" pitchFamily="34" charset="-120"/>
              </a:rPr>
              <a:t>FREE — Community</a:t>
            </a:r>
            <a:endParaRPr lang="en-US" sz="1500" dirty="0"/>
          </a:p>
        </p:txBody>
      </p:sp>
      <p:sp>
        <p:nvSpPr>
          <p:cNvPr id="7" name="Shape 5"/>
          <p:cNvSpPr/>
          <p:nvPr/>
        </p:nvSpPr>
        <p:spPr>
          <a:xfrm>
            <a:off x="4480560" y="1261872"/>
            <a:ext cx="4206240" cy="566928"/>
          </a:xfrm>
          <a:prstGeom prst="rect">
            <a:avLst/>
          </a:prstGeom>
          <a:solidFill>
            <a:srgbClr val="8B1A1A"/>
          </a:solidFill>
          <a:ln w="12700">
            <a:solidFill>
              <a:srgbClr val="8B1A1A"/>
            </a:solidFill>
            <a:prstDash val="solid"/>
          </a:ln>
        </p:spPr>
      </p:sp>
      <p:sp>
        <p:nvSpPr>
          <p:cNvPr id="8" name="Text 6"/>
          <p:cNvSpPr/>
          <p:nvPr/>
        </p:nvSpPr>
        <p:spPr>
          <a:xfrm>
            <a:off x="4480560" y="1261872"/>
            <a:ext cx="4206240"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PRO · $29/mo or $290/yr</a:t>
            </a:r>
            <a:endParaRPr lang="en-US" sz="1500" dirty="0"/>
          </a:p>
        </p:txBody>
      </p:sp>
      <p:sp>
        <p:nvSpPr>
          <p:cNvPr id="9" name="Shape 7"/>
          <p:cNvSpPr/>
          <p:nvPr/>
        </p:nvSpPr>
        <p:spPr>
          <a:xfrm>
            <a:off x="457200" y="1920240"/>
            <a:ext cx="3840480" cy="402336"/>
          </a:xfrm>
          <a:prstGeom prst="rect">
            <a:avLst/>
          </a:prstGeom>
          <a:solidFill>
            <a:srgbClr val="FAFAFA"/>
          </a:solidFill>
          <a:ln w="6350">
            <a:solidFill>
              <a:srgbClr val="E8E8E8"/>
            </a:solidFill>
            <a:prstDash val="solid"/>
          </a:ln>
        </p:spPr>
      </p:sp>
      <p:sp>
        <p:nvSpPr>
          <p:cNvPr id="10" name="Text 8"/>
          <p:cNvSpPr/>
          <p:nvPr/>
        </p:nvSpPr>
        <p:spPr>
          <a:xfrm>
            <a:off x="594360" y="1920240"/>
            <a:ext cx="3566160" cy="402336"/>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Searchable listing (name, category, location)</a:t>
            </a:r>
            <a:endParaRPr lang="en-US" sz="1050" dirty="0"/>
          </a:p>
        </p:txBody>
      </p:sp>
      <p:sp>
        <p:nvSpPr>
          <p:cNvPr id="11" name="Shape 9"/>
          <p:cNvSpPr/>
          <p:nvPr/>
        </p:nvSpPr>
        <p:spPr>
          <a:xfrm>
            <a:off x="457200" y="2359152"/>
            <a:ext cx="3840480" cy="402336"/>
          </a:xfrm>
          <a:prstGeom prst="rect">
            <a:avLst/>
          </a:prstGeom>
          <a:solidFill>
            <a:srgbClr val="FFFFFF"/>
          </a:solidFill>
          <a:ln w="6350">
            <a:solidFill>
              <a:srgbClr val="E8E8E8"/>
            </a:solidFill>
            <a:prstDash val="solid"/>
          </a:ln>
        </p:spPr>
      </p:sp>
      <p:sp>
        <p:nvSpPr>
          <p:cNvPr id="12" name="Text 10"/>
          <p:cNvSpPr/>
          <p:nvPr/>
        </p:nvSpPr>
        <p:spPr>
          <a:xfrm>
            <a:off x="594360" y="2359152"/>
            <a:ext cx="3566160" cy="402336"/>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Contact info &amp; website link</a:t>
            </a:r>
            <a:endParaRPr lang="en-US" sz="1050" dirty="0"/>
          </a:p>
        </p:txBody>
      </p:sp>
      <p:sp>
        <p:nvSpPr>
          <p:cNvPr id="13" name="Shape 11"/>
          <p:cNvSpPr/>
          <p:nvPr/>
        </p:nvSpPr>
        <p:spPr>
          <a:xfrm>
            <a:off x="457200" y="2798064"/>
            <a:ext cx="3840480" cy="402336"/>
          </a:xfrm>
          <a:prstGeom prst="rect">
            <a:avLst/>
          </a:prstGeom>
          <a:solidFill>
            <a:srgbClr val="FAFAFA"/>
          </a:solidFill>
          <a:ln w="6350">
            <a:solidFill>
              <a:srgbClr val="E8E8E8"/>
            </a:solidFill>
            <a:prstDash val="solid"/>
          </a:ln>
        </p:spPr>
      </p:sp>
      <p:sp>
        <p:nvSpPr>
          <p:cNvPr id="14" name="Text 12"/>
          <p:cNvSpPr/>
          <p:nvPr/>
        </p:nvSpPr>
        <p:spPr>
          <a:xfrm>
            <a:off x="594360" y="2798064"/>
            <a:ext cx="3566160" cy="402336"/>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Short description (English)</a:t>
            </a:r>
            <a:endParaRPr lang="en-US" sz="1050" dirty="0"/>
          </a:p>
        </p:txBody>
      </p:sp>
      <p:sp>
        <p:nvSpPr>
          <p:cNvPr id="15" name="Shape 13"/>
          <p:cNvSpPr/>
          <p:nvPr/>
        </p:nvSpPr>
        <p:spPr>
          <a:xfrm>
            <a:off x="457200" y="3236976"/>
            <a:ext cx="3840480" cy="402336"/>
          </a:xfrm>
          <a:prstGeom prst="rect">
            <a:avLst/>
          </a:prstGeom>
          <a:solidFill>
            <a:srgbClr val="FFFFFF"/>
          </a:solidFill>
          <a:ln w="6350">
            <a:solidFill>
              <a:srgbClr val="E8E8E8"/>
            </a:solidFill>
            <a:prstDash val="solid"/>
          </a:ln>
        </p:spPr>
      </p:sp>
      <p:sp>
        <p:nvSpPr>
          <p:cNvPr id="16" name="Text 14"/>
          <p:cNvSpPr/>
          <p:nvPr/>
        </p:nvSpPr>
        <p:spPr>
          <a:xfrm>
            <a:off x="594360" y="3236976"/>
            <a:ext cx="3566160" cy="402336"/>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Verified FiTEN Member badge</a:t>
            </a:r>
            <a:endParaRPr lang="en-US" sz="1050" dirty="0"/>
          </a:p>
        </p:txBody>
      </p:sp>
      <p:sp>
        <p:nvSpPr>
          <p:cNvPr id="17" name="Shape 15"/>
          <p:cNvSpPr/>
          <p:nvPr/>
        </p:nvSpPr>
        <p:spPr>
          <a:xfrm>
            <a:off x="4480560" y="1920240"/>
            <a:ext cx="4206240" cy="365760"/>
          </a:xfrm>
          <a:prstGeom prst="rect">
            <a:avLst/>
          </a:prstGeom>
          <a:solidFill>
            <a:srgbClr val="FFF8E7"/>
          </a:solidFill>
          <a:ln w="6350">
            <a:solidFill>
              <a:srgbClr val="E8D98A"/>
            </a:solidFill>
            <a:prstDash val="solid"/>
          </a:ln>
        </p:spPr>
      </p:sp>
      <p:sp>
        <p:nvSpPr>
          <p:cNvPr id="18" name="Text 16"/>
          <p:cNvSpPr/>
          <p:nvPr/>
        </p:nvSpPr>
        <p:spPr>
          <a:xfrm>
            <a:off x="4617720" y="1920240"/>
            <a:ext cx="3931920" cy="365760"/>
          </a:xfrm>
          <a:prstGeom prst="rect">
            <a:avLst/>
          </a:prstGeom>
          <a:noFill/>
          <a:ln/>
        </p:spPr>
        <p:txBody>
          <a:bodyPr wrap="square" lIns="0" tIns="0" rIns="0" bIns="0" rtlCol="0" anchor="ctr"/>
          <a:lstStyle/>
          <a:p>
            <a:pPr marL="0" indent="0">
              <a:buNone/>
            </a:pPr>
            <a:r>
              <a:rPr lang="en-US" sz="1050" b="1" i="1" dirty="0">
                <a:solidFill>
                  <a:srgbClr val="1A1A1A"/>
                </a:solidFill>
                <a:latin typeface="Calibri" pitchFamily="34" charset="0"/>
                <a:ea typeface="Calibri" pitchFamily="34" charset="-122"/>
                <a:cs typeface="Calibri" pitchFamily="34" charset="-120"/>
              </a:rPr>
              <a:t>Everything in Free, plus:</a:t>
            </a:r>
            <a:endParaRPr lang="en-US" sz="1050" dirty="0"/>
          </a:p>
        </p:txBody>
      </p:sp>
      <p:sp>
        <p:nvSpPr>
          <p:cNvPr id="19" name="Shape 17"/>
          <p:cNvSpPr/>
          <p:nvPr/>
        </p:nvSpPr>
        <p:spPr>
          <a:xfrm>
            <a:off x="4480560" y="2322576"/>
            <a:ext cx="4206240" cy="365760"/>
          </a:xfrm>
          <a:prstGeom prst="rect">
            <a:avLst/>
          </a:prstGeom>
          <a:solidFill>
            <a:srgbClr val="FFFFFF"/>
          </a:solidFill>
          <a:ln w="6350">
            <a:solidFill>
              <a:srgbClr val="E8D98A"/>
            </a:solidFill>
            <a:prstDash val="solid"/>
          </a:ln>
        </p:spPr>
      </p:sp>
      <p:sp>
        <p:nvSpPr>
          <p:cNvPr id="20" name="Text 18"/>
          <p:cNvSpPr/>
          <p:nvPr/>
        </p:nvSpPr>
        <p:spPr>
          <a:xfrm>
            <a:off x="4617720" y="2322576"/>
            <a:ext cx="3931920" cy="36576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Logo + up to 5 photos</a:t>
            </a:r>
            <a:endParaRPr lang="en-US" sz="1050" dirty="0"/>
          </a:p>
        </p:txBody>
      </p:sp>
      <p:sp>
        <p:nvSpPr>
          <p:cNvPr id="21" name="Shape 19"/>
          <p:cNvSpPr/>
          <p:nvPr/>
        </p:nvSpPr>
        <p:spPr>
          <a:xfrm>
            <a:off x="4480560" y="2724912"/>
            <a:ext cx="4206240" cy="365760"/>
          </a:xfrm>
          <a:prstGeom prst="rect">
            <a:avLst/>
          </a:prstGeom>
          <a:solidFill>
            <a:srgbClr val="FFF8E7"/>
          </a:solidFill>
          <a:ln w="6350">
            <a:solidFill>
              <a:srgbClr val="E8D98A"/>
            </a:solidFill>
            <a:prstDash val="solid"/>
          </a:ln>
        </p:spPr>
      </p:sp>
      <p:sp>
        <p:nvSpPr>
          <p:cNvPr id="22" name="Text 20"/>
          <p:cNvSpPr/>
          <p:nvPr/>
        </p:nvSpPr>
        <p:spPr>
          <a:xfrm>
            <a:off x="4617720" y="2724912"/>
            <a:ext cx="3931920" cy="36576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Full bilingual description (EN + Tamil)</a:t>
            </a:r>
            <a:endParaRPr lang="en-US" sz="1050" dirty="0"/>
          </a:p>
        </p:txBody>
      </p:sp>
      <p:sp>
        <p:nvSpPr>
          <p:cNvPr id="23" name="Shape 21"/>
          <p:cNvSpPr/>
          <p:nvPr/>
        </p:nvSpPr>
        <p:spPr>
          <a:xfrm>
            <a:off x="4480560" y="3127248"/>
            <a:ext cx="4206240" cy="365760"/>
          </a:xfrm>
          <a:prstGeom prst="rect">
            <a:avLst/>
          </a:prstGeom>
          <a:solidFill>
            <a:srgbClr val="FFFFFF"/>
          </a:solidFill>
          <a:ln w="6350">
            <a:solidFill>
              <a:srgbClr val="E8D98A"/>
            </a:solidFill>
            <a:prstDash val="solid"/>
          </a:ln>
        </p:spPr>
      </p:sp>
      <p:sp>
        <p:nvSpPr>
          <p:cNvPr id="24" name="Text 22"/>
          <p:cNvSpPr/>
          <p:nvPr/>
        </p:nvSpPr>
        <p:spPr>
          <a:xfrm>
            <a:off x="4617720" y="3127248"/>
            <a:ext cx="3931920" cy="36576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Priority search placement</a:t>
            </a:r>
            <a:endParaRPr lang="en-US" sz="1050" dirty="0"/>
          </a:p>
        </p:txBody>
      </p:sp>
      <p:sp>
        <p:nvSpPr>
          <p:cNvPr id="25" name="Shape 23"/>
          <p:cNvSpPr/>
          <p:nvPr/>
        </p:nvSpPr>
        <p:spPr>
          <a:xfrm>
            <a:off x="4480560" y="3529584"/>
            <a:ext cx="4206240" cy="365760"/>
          </a:xfrm>
          <a:prstGeom prst="rect">
            <a:avLst/>
          </a:prstGeom>
          <a:solidFill>
            <a:srgbClr val="FFF8E7"/>
          </a:solidFill>
          <a:ln w="6350">
            <a:solidFill>
              <a:srgbClr val="E8D98A"/>
            </a:solidFill>
            <a:prstDash val="solid"/>
          </a:ln>
        </p:spPr>
      </p:sp>
      <p:sp>
        <p:nvSpPr>
          <p:cNvPr id="26" name="Text 24"/>
          <p:cNvSpPr/>
          <p:nvPr/>
        </p:nvSpPr>
        <p:spPr>
          <a:xfrm>
            <a:off x="4617720" y="3529584"/>
            <a:ext cx="3931920" cy="36576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B2B connection requests (partnership, investment, mentorship)</a:t>
            </a:r>
            <a:endParaRPr lang="en-US" sz="1050" dirty="0"/>
          </a:p>
        </p:txBody>
      </p:sp>
      <p:sp>
        <p:nvSpPr>
          <p:cNvPr id="27" name="Shape 25"/>
          <p:cNvSpPr/>
          <p:nvPr/>
        </p:nvSpPr>
        <p:spPr>
          <a:xfrm>
            <a:off x="4480560" y="3931920"/>
            <a:ext cx="4206240" cy="365760"/>
          </a:xfrm>
          <a:prstGeom prst="rect">
            <a:avLst/>
          </a:prstGeom>
          <a:solidFill>
            <a:srgbClr val="FFFFFF"/>
          </a:solidFill>
          <a:ln w="6350">
            <a:solidFill>
              <a:srgbClr val="E8D98A"/>
            </a:solidFill>
            <a:prstDash val="solid"/>
          </a:ln>
        </p:spPr>
      </p:sp>
      <p:sp>
        <p:nvSpPr>
          <p:cNvPr id="28" name="Text 26"/>
          <p:cNvSpPr/>
          <p:nvPr/>
        </p:nvSpPr>
        <p:spPr>
          <a:xfrm>
            <a:off x="4617720" y="3931920"/>
            <a:ext cx="3931920" cy="36576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Monthly Tamil business email digest inclusion</a:t>
            </a:r>
            <a:endParaRPr lang="en-US" sz="1050" dirty="0"/>
          </a:p>
        </p:txBody>
      </p:sp>
      <p:sp>
        <p:nvSpPr>
          <p:cNvPr id="29" name="Shape 27"/>
          <p:cNvSpPr/>
          <p:nvPr/>
        </p:nvSpPr>
        <p:spPr>
          <a:xfrm>
            <a:off x="4480560" y="4334256"/>
            <a:ext cx="4206240" cy="365760"/>
          </a:xfrm>
          <a:prstGeom prst="rect">
            <a:avLst/>
          </a:prstGeom>
          <a:solidFill>
            <a:srgbClr val="FFF8E7"/>
          </a:solidFill>
          <a:ln w="6350">
            <a:solidFill>
              <a:srgbClr val="E8D98A"/>
            </a:solidFill>
            <a:prstDash val="solid"/>
          </a:ln>
        </p:spPr>
      </p:sp>
      <p:sp>
        <p:nvSpPr>
          <p:cNvPr id="30" name="Text 28"/>
          <p:cNvSpPr/>
          <p:nvPr/>
        </p:nvSpPr>
        <p:spPr>
          <a:xfrm>
            <a:off x="4617720" y="4334256"/>
            <a:ext cx="3931920" cy="36576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Owner analytics dashboard (views, clicks, inquiries)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F0"/>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ROLLOUT AT A GLANCE</a:t>
            </a:r>
            <a:endParaRPr lang="en-US" sz="2000" dirty="0"/>
          </a:p>
        </p:txBody>
      </p:sp>
      <p:sp>
        <p:nvSpPr>
          <p:cNvPr id="4" name="Shape 2"/>
          <p:cNvSpPr/>
          <p:nvPr/>
        </p:nvSpPr>
        <p:spPr>
          <a:xfrm>
            <a:off x="804672" y="2395728"/>
            <a:ext cx="7516368" cy="50292"/>
          </a:xfrm>
          <a:prstGeom prst="rect">
            <a:avLst/>
          </a:prstGeom>
          <a:solidFill>
            <a:srgbClr val="C8C8C8"/>
          </a:solidFill>
          <a:ln w="12700">
            <a:solidFill>
              <a:srgbClr val="C8C8C8"/>
            </a:solidFill>
            <a:prstDash val="solid"/>
          </a:ln>
        </p:spPr>
      </p:sp>
      <p:sp>
        <p:nvSpPr>
          <p:cNvPr id="5" name="Shape 3"/>
          <p:cNvSpPr/>
          <p:nvPr/>
        </p:nvSpPr>
        <p:spPr>
          <a:xfrm>
            <a:off x="320040" y="960120"/>
            <a:ext cx="2029968" cy="1325880"/>
          </a:xfrm>
          <a:prstGeom prst="rect">
            <a:avLst/>
          </a:prstGeom>
          <a:solidFill>
            <a:srgbClr val="FFFFFF"/>
          </a:solidFill>
          <a:ln w="12700">
            <a:solidFill>
              <a:srgbClr val="D0D0D0"/>
            </a:solidFill>
            <a:prstDash val="solid"/>
          </a:ln>
          <a:effectLst>
            <a:outerShdw blurRad="101600" dist="38100" dir="8100000" algn="bl" rotWithShape="0">
              <a:srgbClr val="000000">
                <a:alpha val="12000"/>
              </a:srgbClr>
            </a:outerShdw>
          </a:effectLst>
        </p:spPr>
      </p:sp>
      <p:sp>
        <p:nvSpPr>
          <p:cNvPr id="6" name="Shape 4"/>
          <p:cNvSpPr/>
          <p:nvPr/>
        </p:nvSpPr>
        <p:spPr>
          <a:xfrm>
            <a:off x="320040" y="960120"/>
            <a:ext cx="2029968" cy="91440"/>
          </a:xfrm>
          <a:prstGeom prst="rect">
            <a:avLst/>
          </a:prstGeom>
          <a:solidFill>
            <a:srgbClr val="8B1A1A"/>
          </a:solidFill>
          <a:ln w="12700">
            <a:solidFill>
              <a:srgbClr val="8B1A1A"/>
            </a:solidFill>
            <a:prstDash val="solid"/>
          </a:ln>
        </p:spPr>
      </p:sp>
      <p:sp>
        <p:nvSpPr>
          <p:cNvPr id="7" name="Text 5"/>
          <p:cNvSpPr/>
          <p:nvPr/>
        </p:nvSpPr>
        <p:spPr>
          <a:xfrm>
            <a:off x="411480" y="1078992"/>
            <a:ext cx="1847088" cy="256032"/>
          </a:xfrm>
          <a:prstGeom prst="rect">
            <a:avLst/>
          </a:prstGeom>
          <a:noFill/>
          <a:ln/>
        </p:spPr>
        <p:txBody>
          <a:bodyPr wrap="square" lIns="0" tIns="0" rIns="0" bIns="0" rtlCol="0" anchor="ctr"/>
          <a:lstStyle/>
          <a:p>
            <a:pPr marL="0" indent="0">
              <a:buNone/>
            </a:pPr>
            <a:r>
              <a:rPr lang="en-US" sz="1100" b="1" dirty="0">
                <a:solidFill>
                  <a:srgbClr val="8B1A1A"/>
                </a:solidFill>
                <a:latin typeface="Cambria" pitchFamily="34" charset="0"/>
                <a:ea typeface="Cambria" pitchFamily="34" charset="-122"/>
                <a:cs typeface="Cambria" pitchFamily="34" charset="-120"/>
              </a:rPr>
              <a:t>Phase 1</a:t>
            </a:r>
            <a:endParaRPr lang="en-US" sz="1100" dirty="0"/>
          </a:p>
        </p:txBody>
      </p:sp>
      <p:sp>
        <p:nvSpPr>
          <p:cNvPr id="8" name="Text 6"/>
          <p:cNvSpPr/>
          <p:nvPr/>
        </p:nvSpPr>
        <p:spPr>
          <a:xfrm>
            <a:off x="411480" y="1335024"/>
            <a:ext cx="1847088" cy="219456"/>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Mo 1–3</a:t>
            </a:r>
            <a:endParaRPr lang="en-US" sz="1000" dirty="0"/>
          </a:p>
        </p:txBody>
      </p:sp>
      <p:sp>
        <p:nvSpPr>
          <p:cNvPr id="9" name="Text 7"/>
          <p:cNvSpPr/>
          <p:nvPr/>
        </p:nvSpPr>
        <p:spPr>
          <a:xfrm>
            <a:off x="411480" y="1572768"/>
            <a:ext cx="1847088" cy="256032"/>
          </a:xfrm>
          <a:prstGeom prst="rect">
            <a:avLst/>
          </a:prstGeom>
          <a:noFill/>
          <a:ln/>
        </p:spPr>
        <p:txBody>
          <a:bodyPr wrap="square" lIns="0" tIns="0" rIns="0" bIns="0" rtlCol="0" anchor="ctr"/>
          <a:lstStyle/>
          <a:p>
            <a:pPr marL="0" indent="0">
              <a:buNone/>
            </a:pPr>
            <a:r>
              <a:rPr lang="en-US" sz="1100" b="1" dirty="0">
                <a:solidFill>
                  <a:srgbClr val="1A1A1A"/>
                </a:solidFill>
                <a:latin typeface="Cambria" pitchFamily="34" charset="0"/>
                <a:ea typeface="Cambria" pitchFamily="34" charset="-122"/>
                <a:cs typeface="Cambria" pitchFamily="34" charset="-120"/>
              </a:rPr>
              <a:t>Foundation</a:t>
            </a:r>
            <a:endParaRPr lang="en-US" sz="1100" dirty="0"/>
          </a:p>
        </p:txBody>
      </p:sp>
      <p:sp>
        <p:nvSpPr>
          <p:cNvPr id="10" name="Shape 8"/>
          <p:cNvSpPr/>
          <p:nvPr/>
        </p:nvSpPr>
        <p:spPr>
          <a:xfrm>
            <a:off x="1005840" y="2286000"/>
            <a:ext cx="237744" cy="237744"/>
          </a:xfrm>
          <a:prstGeom prst="ellipse">
            <a:avLst/>
          </a:prstGeom>
          <a:solidFill>
            <a:srgbClr val="8B1A1A"/>
          </a:solidFill>
          <a:ln w="12700">
            <a:solidFill>
              <a:srgbClr val="8B1A1A"/>
            </a:solidFill>
            <a:prstDash val="solid"/>
          </a:ln>
        </p:spPr>
      </p:sp>
      <p:sp>
        <p:nvSpPr>
          <p:cNvPr id="11" name="Shape 9"/>
          <p:cNvSpPr/>
          <p:nvPr/>
        </p:nvSpPr>
        <p:spPr>
          <a:xfrm>
            <a:off x="320040" y="2606040"/>
            <a:ext cx="2029968" cy="2148840"/>
          </a:xfrm>
          <a:prstGeom prst="rect">
            <a:avLst/>
          </a:prstGeom>
          <a:solidFill>
            <a:srgbClr val="FFFFFF"/>
          </a:solidFill>
          <a:ln w="6350">
            <a:solidFill>
              <a:srgbClr val="D0D0D0"/>
            </a:solidFill>
            <a:prstDash val="solid"/>
          </a:ln>
        </p:spPr>
      </p:sp>
      <p:sp>
        <p:nvSpPr>
          <p:cNvPr id="12" name="Text 10"/>
          <p:cNvSpPr/>
          <p:nvPr/>
        </p:nvSpPr>
        <p:spPr>
          <a:xfrm>
            <a:off x="411480" y="2697480"/>
            <a:ext cx="1847088" cy="1975104"/>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English directory: search, profiles, admin panel, mobile-optimised. Pro tier live. 100 founding members onboarded.</a:t>
            </a:r>
            <a:endParaRPr lang="en-US" sz="1000" dirty="0"/>
          </a:p>
        </p:txBody>
      </p:sp>
      <p:sp>
        <p:nvSpPr>
          <p:cNvPr id="13" name="Shape 11"/>
          <p:cNvSpPr/>
          <p:nvPr/>
        </p:nvSpPr>
        <p:spPr>
          <a:xfrm>
            <a:off x="2514600" y="960120"/>
            <a:ext cx="2029968" cy="1325880"/>
          </a:xfrm>
          <a:prstGeom prst="rect">
            <a:avLst/>
          </a:prstGeom>
          <a:solidFill>
            <a:srgbClr val="FFFFFF"/>
          </a:solidFill>
          <a:ln w="12700">
            <a:solidFill>
              <a:srgbClr val="D0D0D0"/>
            </a:solidFill>
            <a:prstDash val="solid"/>
          </a:ln>
          <a:effectLst>
            <a:outerShdw blurRad="101600" dist="38100" dir="8100000" algn="bl" rotWithShape="0">
              <a:srgbClr val="000000">
                <a:alpha val="12000"/>
              </a:srgbClr>
            </a:outerShdw>
          </a:effectLst>
        </p:spPr>
      </p:sp>
      <p:sp>
        <p:nvSpPr>
          <p:cNvPr id="14" name="Shape 12"/>
          <p:cNvSpPr/>
          <p:nvPr/>
        </p:nvSpPr>
        <p:spPr>
          <a:xfrm>
            <a:off x="2514600" y="960120"/>
            <a:ext cx="2029968" cy="91440"/>
          </a:xfrm>
          <a:prstGeom prst="rect">
            <a:avLst/>
          </a:prstGeom>
          <a:solidFill>
            <a:srgbClr val="8B5E00"/>
          </a:solidFill>
          <a:ln w="12700">
            <a:solidFill>
              <a:srgbClr val="8B5E00"/>
            </a:solidFill>
            <a:prstDash val="solid"/>
          </a:ln>
        </p:spPr>
      </p:sp>
      <p:sp>
        <p:nvSpPr>
          <p:cNvPr id="15" name="Text 13"/>
          <p:cNvSpPr/>
          <p:nvPr/>
        </p:nvSpPr>
        <p:spPr>
          <a:xfrm>
            <a:off x="2606040" y="1078992"/>
            <a:ext cx="1847088" cy="256032"/>
          </a:xfrm>
          <a:prstGeom prst="rect">
            <a:avLst/>
          </a:prstGeom>
          <a:noFill/>
          <a:ln/>
        </p:spPr>
        <p:txBody>
          <a:bodyPr wrap="square" lIns="0" tIns="0" rIns="0" bIns="0" rtlCol="0" anchor="ctr"/>
          <a:lstStyle/>
          <a:p>
            <a:pPr marL="0" indent="0">
              <a:buNone/>
            </a:pPr>
            <a:r>
              <a:rPr lang="en-US" sz="1100" b="1" dirty="0">
                <a:solidFill>
                  <a:srgbClr val="8B5E00"/>
                </a:solidFill>
                <a:latin typeface="Cambria" pitchFamily="34" charset="0"/>
                <a:ea typeface="Cambria" pitchFamily="34" charset="-122"/>
                <a:cs typeface="Cambria" pitchFamily="34" charset="-120"/>
              </a:rPr>
              <a:t>Phase 2</a:t>
            </a:r>
            <a:endParaRPr lang="en-US" sz="1100" dirty="0"/>
          </a:p>
        </p:txBody>
      </p:sp>
      <p:sp>
        <p:nvSpPr>
          <p:cNvPr id="16" name="Text 14"/>
          <p:cNvSpPr/>
          <p:nvPr/>
        </p:nvSpPr>
        <p:spPr>
          <a:xfrm>
            <a:off x="2606040" y="1335024"/>
            <a:ext cx="1847088" cy="219456"/>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Mo 4–6</a:t>
            </a:r>
            <a:endParaRPr lang="en-US" sz="1000" dirty="0"/>
          </a:p>
        </p:txBody>
      </p:sp>
      <p:sp>
        <p:nvSpPr>
          <p:cNvPr id="17" name="Text 15"/>
          <p:cNvSpPr/>
          <p:nvPr/>
        </p:nvSpPr>
        <p:spPr>
          <a:xfrm>
            <a:off x="2606040" y="1572768"/>
            <a:ext cx="1847088" cy="256032"/>
          </a:xfrm>
          <a:prstGeom prst="rect">
            <a:avLst/>
          </a:prstGeom>
          <a:noFill/>
          <a:ln/>
        </p:spPr>
        <p:txBody>
          <a:bodyPr wrap="square" lIns="0" tIns="0" rIns="0" bIns="0" rtlCol="0" anchor="ctr"/>
          <a:lstStyle/>
          <a:p>
            <a:pPr marL="0" indent="0">
              <a:buNone/>
            </a:pPr>
            <a:r>
              <a:rPr lang="en-US" sz="1100" b="1" dirty="0">
                <a:solidFill>
                  <a:srgbClr val="1A1A1A"/>
                </a:solidFill>
                <a:latin typeface="Cambria" pitchFamily="34" charset="0"/>
                <a:ea typeface="Cambria" pitchFamily="34" charset="-122"/>
                <a:cs typeface="Cambria" pitchFamily="34" charset="-120"/>
              </a:rPr>
              <a:t>Full Platform</a:t>
            </a:r>
            <a:endParaRPr lang="en-US" sz="1100" dirty="0"/>
          </a:p>
        </p:txBody>
      </p:sp>
      <p:sp>
        <p:nvSpPr>
          <p:cNvPr id="18" name="Shape 16"/>
          <p:cNvSpPr/>
          <p:nvPr/>
        </p:nvSpPr>
        <p:spPr>
          <a:xfrm>
            <a:off x="3200400" y="2286000"/>
            <a:ext cx="237744" cy="237744"/>
          </a:xfrm>
          <a:prstGeom prst="ellipse">
            <a:avLst/>
          </a:prstGeom>
          <a:solidFill>
            <a:srgbClr val="8B5E00"/>
          </a:solidFill>
          <a:ln w="12700">
            <a:solidFill>
              <a:srgbClr val="8B5E00"/>
            </a:solidFill>
            <a:prstDash val="solid"/>
          </a:ln>
        </p:spPr>
      </p:sp>
      <p:sp>
        <p:nvSpPr>
          <p:cNvPr id="19" name="Shape 17"/>
          <p:cNvSpPr/>
          <p:nvPr/>
        </p:nvSpPr>
        <p:spPr>
          <a:xfrm>
            <a:off x="2514600" y="2606040"/>
            <a:ext cx="2029968" cy="2148840"/>
          </a:xfrm>
          <a:prstGeom prst="rect">
            <a:avLst/>
          </a:prstGeom>
          <a:solidFill>
            <a:srgbClr val="FFFFFF"/>
          </a:solidFill>
          <a:ln w="6350">
            <a:solidFill>
              <a:srgbClr val="D0D0D0"/>
            </a:solidFill>
            <a:prstDash val="solid"/>
          </a:ln>
        </p:spPr>
      </p:sp>
      <p:sp>
        <p:nvSpPr>
          <p:cNvPr id="20" name="Text 18"/>
          <p:cNvSpPr/>
          <p:nvPr/>
        </p:nvSpPr>
        <p:spPr>
          <a:xfrm>
            <a:off x="2606040" y="2697480"/>
            <a:ext cx="1847088" cy="1975104"/>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Full Tamil language, verified badges, B2B connections, partnership signals, FiTEN event integration.</a:t>
            </a:r>
            <a:endParaRPr lang="en-US" sz="1000" dirty="0"/>
          </a:p>
        </p:txBody>
      </p:sp>
      <p:sp>
        <p:nvSpPr>
          <p:cNvPr id="21" name="Shape 19"/>
          <p:cNvSpPr/>
          <p:nvPr/>
        </p:nvSpPr>
        <p:spPr>
          <a:xfrm>
            <a:off x="4709160" y="960120"/>
            <a:ext cx="2029968" cy="1325880"/>
          </a:xfrm>
          <a:prstGeom prst="rect">
            <a:avLst/>
          </a:prstGeom>
          <a:solidFill>
            <a:srgbClr val="FFFFFF"/>
          </a:solidFill>
          <a:ln w="12700">
            <a:solidFill>
              <a:srgbClr val="D0D0D0"/>
            </a:solidFill>
            <a:prstDash val="solid"/>
          </a:ln>
          <a:effectLst>
            <a:outerShdw blurRad="101600" dist="38100" dir="8100000" algn="bl" rotWithShape="0">
              <a:srgbClr val="000000">
                <a:alpha val="12000"/>
              </a:srgbClr>
            </a:outerShdw>
          </a:effectLst>
        </p:spPr>
      </p:sp>
      <p:sp>
        <p:nvSpPr>
          <p:cNvPr id="22" name="Shape 20"/>
          <p:cNvSpPr/>
          <p:nvPr/>
        </p:nvSpPr>
        <p:spPr>
          <a:xfrm>
            <a:off x="4709160" y="960120"/>
            <a:ext cx="2029968" cy="91440"/>
          </a:xfrm>
          <a:prstGeom prst="rect">
            <a:avLst/>
          </a:prstGeom>
          <a:solidFill>
            <a:srgbClr val="006B75"/>
          </a:solidFill>
          <a:ln w="12700">
            <a:solidFill>
              <a:srgbClr val="006B75"/>
            </a:solidFill>
            <a:prstDash val="solid"/>
          </a:ln>
        </p:spPr>
      </p:sp>
      <p:sp>
        <p:nvSpPr>
          <p:cNvPr id="23" name="Text 21"/>
          <p:cNvSpPr/>
          <p:nvPr/>
        </p:nvSpPr>
        <p:spPr>
          <a:xfrm>
            <a:off x="4800600" y="1078992"/>
            <a:ext cx="1847088" cy="256032"/>
          </a:xfrm>
          <a:prstGeom prst="rect">
            <a:avLst/>
          </a:prstGeom>
          <a:noFill/>
          <a:ln/>
        </p:spPr>
        <p:txBody>
          <a:bodyPr wrap="square" lIns="0" tIns="0" rIns="0" bIns="0" rtlCol="0" anchor="ctr"/>
          <a:lstStyle/>
          <a:p>
            <a:pPr marL="0" indent="0">
              <a:buNone/>
            </a:pPr>
            <a:r>
              <a:rPr lang="en-US" sz="1100" b="1" dirty="0">
                <a:solidFill>
                  <a:srgbClr val="006B75"/>
                </a:solidFill>
                <a:latin typeface="Cambria" pitchFamily="34" charset="0"/>
                <a:ea typeface="Cambria" pitchFamily="34" charset="-122"/>
                <a:cs typeface="Cambria" pitchFamily="34" charset="-120"/>
              </a:rPr>
              <a:t>Phase 3</a:t>
            </a:r>
            <a:endParaRPr lang="en-US" sz="1100" dirty="0"/>
          </a:p>
        </p:txBody>
      </p:sp>
      <p:sp>
        <p:nvSpPr>
          <p:cNvPr id="24" name="Text 22"/>
          <p:cNvSpPr/>
          <p:nvPr/>
        </p:nvSpPr>
        <p:spPr>
          <a:xfrm>
            <a:off x="4800600" y="1335024"/>
            <a:ext cx="1847088" cy="219456"/>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Mo 7–9</a:t>
            </a:r>
            <a:endParaRPr lang="en-US" sz="1000" dirty="0"/>
          </a:p>
        </p:txBody>
      </p:sp>
      <p:sp>
        <p:nvSpPr>
          <p:cNvPr id="25" name="Text 23"/>
          <p:cNvSpPr/>
          <p:nvPr/>
        </p:nvSpPr>
        <p:spPr>
          <a:xfrm>
            <a:off x="4800600" y="1572768"/>
            <a:ext cx="1847088" cy="256032"/>
          </a:xfrm>
          <a:prstGeom prst="rect">
            <a:avLst/>
          </a:prstGeom>
          <a:noFill/>
          <a:ln/>
        </p:spPr>
        <p:txBody>
          <a:bodyPr wrap="square" lIns="0" tIns="0" rIns="0" bIns="0" rtlCol="0" anchor="ctr"/>
          <a:lstStyle/>
          <a:p>
            <a:pPr marL="0" indent="0">
              <a:buNone/>
            </a:pPr>
            <a:r>
              <a:rPr lang="en-US" sz="1100" b="1" dirty="0">
                <a:solidFill>
                  <a:srgbClr val="1A1A1A"/>
                </a:solidFill>
                <a:latin typeface="Cambria" pitchFamily="34" charset="0"/>
                <a:ea typeface="Cambria" pitchFamily="34" charset="-122"/>
                <a:cs typeface="Cambria" pitchFamily="34" charset="-120"/>
              </a:rPr>
              <a:t>Advanced Tools</a:t>
            </a:r>
            <a:endParaRPr lang="en-US" sz="1100" dirty="0"/>
          </a:p>
        </p:txBody>
      </p:sp>
      <p:sp>
        <p:nvSpPr>
          <p:cNvPr id="26" name="Shape 24"/>
          <p:cNvSpPr/>
          <p:nvPr/>
        </p:nvSpPr>
        <p:spPr>
          <a:xfrm>
            <a:off x="5394960" y="2286000"/>
            <a:ext cx="237744" cy="237744"/>
          </a:xfrm>
          <a:prstGeom prst="ellipse">
            <a:avLst/>
          </a:prstGeom>
          <a:solidFill>
            <a:srgbClr val="006B75"/>
          </a:solidFill>
          <a:ln w="12700">
            <a:solidFill>
              <a:srgbClr val="006B75"/>
            </a:solidFill>
            <a:prstDash val="solid"/>
          </a:ln>
        </p:spPr>
      </p:sp>
      <p:sp>
        <p:nvSpPr>
          <p:cNvPr id="27" name="Shape 25"/>
          <p:cNvSpPr/>
          <p:nvPr/>
        </p:nvSpPr>
        <p:spPr>
          <a:xfrm>
            <a:off x="4709160" y="2606040"/>
            <a:ext cx="2029968" cy="2148840"/>
          </a:xfrm>
          <a:prstGeom prst="rect">
            <a:avLst/>
          </a:prstGeom>
          <a:solidFill>
            <a:srgbClr val="FFFFFF"/>
          </a:solidFill>
          <a:ln w="6350">
            <a:solidFill>
              <a:srgbClr val="D0D0D0"/>
            </a:solidFill>
            <a:prstDash val="solid"/>
          </a:ln>
        </p:spPr>
      </p:sp>
      <p:sp>
        <p:nvSpPr>
          <p:cNvPr id="28" name="Text 26"/>
          <p:cNvSpPr/>
          <p:nvPr/>
        </p:nvSpPr>
        <p:spPr>
          <a:xfrm>
            <a:off x="4800600" y="2697480"/>
            <a:ext cx="1847088" cy="1975104"/>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Investor–startup matching, co-founder search, owner analytics dashboard, sponsored placements.</a:t>
            </a:r>
            <a:endParaRPr lang="en-US" sz="1000" dirty="0"/>
          </a:p>
        </p:txBody>
      </p:sp>
      <p:sp>
        <p:nvSpPr>
          <p:cNvPr id="29" name="Shape 27"/>
          <p:cNvSpPr/>
          <p:nvPr/>
        </p:nvSpPr>
        <p:spPr>
          <a:xfrm>
            <a:off x="6903720" y="960120"/>
            <a:ext cx="2029968" cy="1325880"/>
          </a:xfrm>
          <a:prstGeom prst="rect">
            <a:avLst/>
          </a:prstGeom>
          <a:solidFill>
            <a:srgbClr val="FFFFFF"/>
          </a:solidFill>
          <a:ln w="12700">
            <a:solidFill>
              <a:srgbClr val="D0D0D0"/>
            </a:solidFill>
            <a:prstDash val="solid"/>
          </a:ln>
          <a:effectLst>
            <a:outerShdw blurRad="101600" dist="38100" dir="8100000" algn="bl" rotWithShape="0">
              <a:srgbClr val="000000">
                <a:alpha val="12000"/>
              </a:srgbClr>
            </a:outerShdw>
          </a:effectLst>
        </p:spPr>
      </p:sp>
      <p:sp>
        <p:nvSpPr>
          <p:cNvPr id="30" name="Shape 28"/>
          <p:cNvSpPr/>
          <p:nvPr/>
        </p:nvSpPr>
        <p:spPr>
          <a:xfrm>
            <a:off x="6903720" y="960120"/>
            <a:ext cx="2029968" cy="91440"/>
          </a:xfrm>
          <a:prstGeom prst="rect">
            <a:avLst/>
          </a:prstGeom>
          <a:solidFill>
            <a:srgbClr val="3A5A8C"/>
          </a:solidFill>
          <a:ln w="12700">
            <a:solidFill>
              <a:srgbClr val="3A5A8C"/>
            </a:solidFill>
            <a:prstDash val="solid"/>
          </a:ln>
        </p:spPr>
      </p:sp>
      <p:sp>
        <p:nvSpPr>
          <p:cNvPr id="31" name="Text 29"/>
          <p:cNvSpPr/>
          <p:nvPr/>
        </p:nvSpPr>
        <p:spPr>
          <a:xfrm>
            <a:off x="6995160" y="1078992"/>
            <a:ext cx="1847088" cy="256032"/>
          </a:xfrm>
          <a:prstGeom prst="rect">
            <a:avLst/>
          </a:prstGeom>
          <a:noFill/>
          <a:ln/>
        </p:spPr>
        <p:txBody>
          <a:bodyPr wrap="square" lIns="0" tIns="0" rIns="0" bIns="0" rtlCol="0" anchor="ctr"/>
          <a:lstStyle/>
          <a:p>
            <a:pPr marL="0" indent="0">
              <a:buNone/>
            </a:pPr>
            <a:r>
              <a:rPr lang="en-US" sz="1100" b="1" dirty="0">
                <a:solidFill>
                  <a:srgbClr val="3A5A8C"/>
                </a:solidFill>
                <a:latin typeface="Cambria" pitchFamily="34" charset="0"/>
                <a:ea typeface="Cambria" pitchFamily="34" charset="-122"/>
                <a:cs typeface="Cambria" pitchFamily="34" charset="-120"/>
              </a:rPr>
              <a:t>Phase 4</a:t>
            </a:r>
            <a:endParaRPr lang="en-US" sz="1100" dirty="0"/>
          </a:p>
        </p:txBody>
      </p:sp>
      <p:sp>
        <p:nvSpPr>
          <p:cNvPr id="32" name="Text 30"/>
          <p:cNvSpPr/>
          <p:nvPr/>
        </p:nvSpPr>
        <p:spPr>
          <a:xfrm>
            <a:off x="6995160" y="1335024"/>
            <a:ext cx="1847088" cy="219456"/>
          </a:xfrm>
          <a:prstGeom prst="rect">
            <a:avLst/>
          </a:prstGeom>
          <a:noFill/>
          <a:ln/>
        </p:spPr>
        <p:txBody>
          <a:bodyPr wrap="square" lIns="0" tIns="0" rIns="0" bIns="0" rtlCol="0" anchor="ctr"/>
          <a:lstStyle/>
          <a:p>
            <a:pPr marL="0" indent="0">
              <a:buNone/>
            </a:pPr>
            <a:r>
              <a:rPr lang="en-US" sz="1000" i="1" dirty="0">
                <a:solidFill>
                  <a:srgbClr val="888888"/>
                </a:solidFill>
                <a:latin typeface="Calibri" pitchFamily="34" charset="0"/>
                <a:ea typeface="Calibri" pitchFamily="34" charset="-122"/>
                <a:cs typeface="Calibri" pitchFamily="34" charset="-120"/>
              </a:rPr>
              <a:t>Mo 10+</a:t>
            </a:r>
            <a:endParaRPr lang="en-US" sz="1000" dirty="0"/>
          </a:p>
        </p:txBody>
      </p:sp>
      <p:sp>
        <p:nvSpPr>
          <p:cNvPr id="33" name="Text 31"/>
          <p:cNvSpPr/>
          <p:nvPr/>
        </p:nvSpPr>
        <p:spPr>
          <a:xfrm>
            <a:off x="6995160" y="1572768"/>
            <a:ext cx="1847088" cy="256032"/>
          </a:xfrm>
          <a:prstGeom prst="rect">
            <a:avLst/>
          </a:prstGeom>
          <a:noFill/>
          <a:ln/>
        </p:spPr>
        <p:txBody>
          <a:bodyPr wrap="square" lIns="0" tIns="0" rIns="0" bIns="0" rtlCol="0" anchor="ctr"/>
          <a:lstStyle/>
          <a:p>
            <a:pPr marL="0" indent="0">
              <a:buNone/>
            </a:pPr>
            <a:r>
              <a:rPr lang="en-US" sz="1100" b="1" dirty="0">
                <a:solidFill>
                  <a:srgbClr val="1A1A1A"/>
                </a:solidFill>
                <a:latin typeface="Cambria" pitchFamily="34" charset="0"/>
                <a:ea typeface="Cambria" pitchFamily="34" charset="-122"/>
                <a:cs typeface="Cambria" pitchFamily="34" charset="-120"/>
              </a:rPr>
              <a:t>Scale &amp; AI</a:t>
            </a:r>
            <a:endParaRPr lang="en-US" sz="1100" dirty="0"/>
          </a:p>
        </p:txBody>
      </p:sp>
      <p:sp>
        <p:nvSpPr>
          <p:cNvPr id="34" name="Shape 32"/>
          <p:cNvSpPr/>
          <p:nvPr/>
        </p:nvSpPr>
        <p:spPr>
          <a:xfrm>
            <a:off x="7589520" y="2286000"/>
            <a:ext cx="237744" cy="237744"/>
          </a:xfrm>
          <a:prstGeom prst="ellipse">
            <a:avLst/>
          </a:prstGeom>
          <a:solidFill>
            <a:srgbClr val="3A5A8C"/>
          </a:solidFill>
          <a:ln w="12700">
            <a:solidFill>
              <a:srgbClr val="3A5A8C"/>
            </a:solidFill>
            <a:prstDash val="solid"/>
          </a:ln>
        </p:spPr>
      </p:sp>
      <p:sp>
        <p:nvSpPr>
          <p:cNvPr id="35" name="Shape 33"/>
          <p:cNvSpPr/>
          <p:nvPr/>
        </p:nvSpPr>
        <p:spPr>
          <a:xfrm>
            <a:off x="6903720" y="2606040"/>
            <a:ext cx="2029968" cy="2148840"/>
          </a:xfrm>
          <a:prstGeom prst="rect">
            <a:avLst/>
          </a:prstGeom>
          <a:solidFill>
            <a:srgbClr val="FFFFFF"/>
          </a:solidFill>
          <a:ln w="6350">
            <a:solidFill>
              <a:srgbClr val="D0D0D0"/>
            </a:solidFill>
            <a:prstDash val="solid"/>
          </a:ln>
        </p:spPr>
      </p:sp>
      <p:sp>
        <p:nvSpPr>
          <p:cNvPr id="36" name="Text 34"/>
          <p:cNvSpPr/>
          <p:nvPr/>
        </p:nvSpPr>
        <p:spPr>
          <a:xfrm>
            <a:off x="6995160" y="2697480"/>
            <a:ext cx="1847088" cy="1975104"/>
          </a:xfrm>
          <a:prstGeom prst="rect">
            <a:avLst/>
          </a:prstGeom>
          <a:noFill/>
          <a:ln/>
        </p:spPr>
        <p:txBody>
          <a:bodyPr wrap="square" lIns="0" tIns="0" rIns="0" bIns="0" rtlCol="0" anchor="ctr"/>
          <a:lstStyle/>
          <a:p>
            <a:pPr marL="0" indent="0">
              <a:buNone/>
            </a:pPr>
            <a:r>
              <a:rPr lang="en-US" sz="1000" dirty="0">
                <a:solidFill>
                  <a:srgbClr val="555555"/>
                </a:solidFill>
                <a:latin typeface="Calibri" pitchFamily="34" charset="0"/>
                <a:ea typeface="Calibri" pitchFamily="34" charset="-122"/>
                <a:cs typeface="Calibri" pitchFamily="34" charset="-120"/>
              </a:rPr>
              <a:t>AI-powered recommendations, Tamil Nadu startup registry integration, global Tamil association API access.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8B1A1A"/>
          </a:solidFill>
          <a:ln w="12700">
            <a:solidFill>
              <a:srgbClr val="8B1A1A"/>
            </a:solidFill>
            <a:prstDash val="solid"/>
          </a:ln>
        </p:spPr>
      </p:sp>
      <p:sp>
        <p:nvSpPr>
          <p:cNvPr id="3" name="Text 1"/>
          <p:cNvSpPr/>
          <p:nvPr/>
        </p:nvSpPr>
        <p:spPr>
          <a:xfrm>
            <a:off x="457200" y="109728"/>
            <a:ext cx="8229600" cy="530352"/>
          </a:xfrm>
          <a:prstGeom prst="rect">
            <a:avLst/>
          </a:prstGeom>
          <a:noFill/>
          <a:ln/>
        </p:spPr>
        <p:txBody>
          <a:bodyPr wrap="square" lIns="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FIVE STEPS TO LAUNCH</a:t>
            </a:r>
            <a:endParaRPr lang="en-US" sz="2000" dirty="0"/>
          </a:p>
        </p:txBody>
      </p:sp>
      <p:sp>
        <p:nvSpPr>
          <p:cNvPr id="4" name="Shape 2"/>
          <p:cNvSpPr/>
          <p:nvPr/>
        </p:nvSpPr>
        <p:spPr>
          <a:xfrm>
            <a:off x="347472" y="978408"/>
            <a:ext cx="502920" cy="502920"/>
          </a:xfrm>
          <a:prstGeom prst="ellipse">
            <a:avLst/>
          </a:prstGeom>
          <a:solidFill>
            <a:srgbClr val="8B1A1A"/>
          </a:solidFill>
          <a:ln w="12700">
            <a:solidFill>
              <a:srgbClr val="8B1A1A"/>
            </a:solidFill>
            <a:prstDash val="solid"/>
          </a:ln>
        </p:spPr>
      </p:sp>
      <p:sp>
        <p:nvSpPr>
          <p:cNvPr id="5" name="Text 3"/>
          <p:cNvSpPr/>
          <p:nvPr/>
        </p:nvSpPr>
        <p:spPr>
          <a:xfrm>
            <a:off x="347472" y="97840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6" name="Shape 4"/>
          <p:cNvSpPr/>
          <p:nvPr/>
        </p:nvSpPr>
        <p:spPr>
          <a:xfrm>
            <a:off x="566928" y="1481328"/>
            <a:ext cx="36576" cy="310896"/>
          </a:xfrm>
          <a:prstGeom prst="rect">
            <a:avLst/>
          </a:prstGeom>
          <a:solidFill>
            <a:srgbClr val="D0D0D0"/>
          </a:solidFill>
          <a:ln w="12700">
            <a:solidFill>
              <a:srgbClr val="D0D0D0"/>
            </a:solidFill>
            <a:prstDash val="solid"/>
          </a:ln>
        </p:spPr>
      </p:sp>
      <p:sp>
        <p:nvSpPr>
          <p:cNvPr id="7" name="Text 5"/>
          <p:cNvSpPr/>
          <p:nvPr/>
        </p:nvSpPr>
        <p:spPr>
          <a:xfrm>
            <a:off x="1024128" y="950976"/>
            <a:ext cx="5349240" cy="320040"/>
          </a:xfrm>
          <a:prstGeom prst="rect">
            <a:avLst/>
          </a:prstGeom>
          <a:noFill/>
          <a:ln/>
        </p:spPr>
        <p:txBody>
          <a:bodyPr wrap="square" lIns="0" tIns="0" rIns="0" bIns="0" rtlCol="0" anchor="ctr"/>
          <a:lstStyle/>
          <a:p>
            <a:pPr marL="0" indent="0">
              <a:buNone/>
            </a:pPr>
            <a:r>
              <a:rPr lang="en-US" sz="1400" b="1" dirty="0">
                <a:solidFill>
                  <a:srgbClr val="6B1414"/>
                </a:solidFill>
                <a:latin typeface="Cambria" pitchFamily="34" charset="0"/>
                <a:ea typeface="Cambria" pitchFamily="34" charset="-122"/>
                <a:cs typeface="Cambria" pitchFamily="34" charset="-120"/>
              </a:rPr>
              <a:t>Board Approval</a:t>
            </a:r>
            <a:endParaRPr lang="en-US" sz="1400" dirty="0"/>
          </a:p>
        </p:txBody>
      </p:sp>
      <p:sp>
        <p:nvSpPr>
          <p:cNvPr id="8" name="Shape 6"/>
          <p:cNvSpPr/>
          <p:nvPr/>
        </p:nvSpPr>
        <p:spPr>
          <a:xfrm>
            <a:off x="6656832" y="941832"/>
            <a:ext cx="1828800" cy="310896"/>
          </a:xfrm>
          <a:prstGeom prst="rect">
            <a:avLst/>
          </a:prstGeom>
          <a:solidFill>
            <a:srgbClr val="C69400"/>
          </a:solidFill>
          <a:ln w="12700">
            <a:solidFill>
              <a:srgbClr val="C69400"/>
            </a:solidFill>
            <a:prstDash val="solid"/>
          </a:ln>
        </p:spPr>
      </p:sp>
      <p:sp>
        <p:nvSpPr>
          <p:cNvPr id="9" name="Text 7"/>
          <p:cNvSpPr/>
          <p:nvPr/>
        </p:nvSpPr>
        <p:spPr>
          <a:xfrm>
            <a:off x="6656832" y="941832"/>
            <a:ext cx="1828800" cy="310896"/>
          </a:xfrm>
          <a:prstGeom prst="rect">
            <a:avLst/>
          </a:prstGeom>
          <a:noFill/>
          <a:ln/>
        </p:spPr>
        <p:txBody>
          <a:bodyPr wrap="square" lIns="0" tIns="0" rIns="0" bIns="0" rtlCol="0" anchor="ctr"/>
          <a:lstStyle/>
          <a:p>
            <a:pPr marL="0" indent="0" algn="ctr">
              <a:buNone/>
            </a:pPr>
            <a:r>
              <a:rPr lang="en-US" sz="900" b="1" dirty="0">
                <a:solidFill>
                  <a:srgbClr val="FFFFFF"/>
                </a:solidFill>
              </a:rPr>
              <a:t>TODAY’S GOAL</a:t>
            </a:r>
            <a:endParaRPr lang="en-US" sz="900" dirty="0"/>
          </a:p>
        </p:txBody>
      </p:sp>
      <p:sp>
        <p:nvSpPr>
          <p:cNvPr id="10" name="Text 8"/>
          <p:cNvSpPr/>
          <p:nvPr/>
        </p:nvSpPr>
        <p:spPr>
          <a:xfrm>
            <a:off x="1024128" y="1307592"/>
            <a:ext cx="7635240" cy="329184"/>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FiTEN Executive Committee approves proposal and authorises Phase 1 budget. Target: within 30 days.</a:t>
            </a:r>
            <a:endParaRPr lang="en-US" sz="1050" dirty="0"/>
          </a:p>
        </p:txBody>
      </p:sp>
      <p:sp>
        <p:nvSpPr>
          <p:cNvPr id="11" name="Shape 9"/>
          <p:cNvSpPr/>
          <p:nvPr/>
        </p:nvSpPr>
        <p:spPr>
          <a:xfrm>
            <a:off x="347472" y="1792224"/>
            <a:ext cx="502920" cy="502920"/>
          </a:xfrm>
          <a:prstGeom prst="ellipse">
            <a:avLst/>
          </a:prstGeom>
          <a:solidFill>
            <a:srgbClr val="8B1A1A"/>
          </a:solidFill>
          <a:ln w="12700">
            <a:solidFill>
              <a:srgbClr val="8B1A1A"/>
            </a:solidFill>
            <a:prstDash val="solid"/>
          </a:ln>
        </p:spPr>
      </p:sp>
      <p:sp>
        <p:nvSpPr>
          <p:cNvPr id="12" name="Text 10"/>
          <p:cNvSpPr/>
          <p:nvPr/>
        </p:nvSpPr>
        <p:spPr>
          <a:xfrm>
            <a:off x="347472" y="1792224"/>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3" name="Shape 11"/>
          <p:cNvSpPr/>
          <p:nvPr/>
        </p:nvSpPr>
        <p:spPr>
          <a:xfrm>
            <a:off x="566928" y="2295144"/>
            <a:ext cx="36576" cy="310896"/>
          </a:xfrm>
          <a:prstGeom prst="rect">
            <a:avLst/>
          </a:prstGeom>
          <a:solidFill>
            <a:srgbClr val="D0D0D0"/>
          </a:solidFill>
          <a:ln w="12700">
            <a:solidFill>
              <a:srgbClr val="D0D0D0"/>
            </a:solidFill>
            <a:prstDash val="solid"/>
          </a:ln>
        </p:spPr>
      </p:sp>
      <p:sp>
        <p:nvSpPr>
          <p:cNvPr id="14" name="Text 12"/>
          <p:cNvSpPr/>
          <p:nvPr/>
        </p:nvSpPr>
        <p:spPr>
          <a:xfrm>
            <a:off x="1024128" y="1764792"/>
            <a:ext cx="7635240" cy="320040"/>
          </a:xfrm>
          <a:prstGeom prst="rect">
            <a:avLst/>
          </a:prstGeom>
          <a:noFill/>
          <a:ln/>
        </p:spPr>
        <p:txBody>
          <a:bodyPr wrap="square" lIns="0" tIns="0" rIns="0" bIns="0" rtlCol="0" anchor="ctr"/>
          <a:lstStyle/>
          <a:p>
            <a:pPr marL="0" indent="0">
              <a:buNone/>
            </a:pPr>
            <a:r>
              <a:rPr lang="en-US" sz="1400" b="1" dirty="0">
                <a:solidFill>
                  <a:srgbClr val="6B1414"/>
                </a:solidFill>
                <a:latin typeface="Cambria" pitchFamily="34" charset="0"/>
                <a:ea typeface="Cambria" pitchFamily="34" charset="-122"/>
                <a:cs typeface="Cambria" pitchFamily="34" charset="-120"/>
              </a:rPr>
              <a:t>Appoint Directory Lead</a:t>
            </a:r>
            <a:endParaRPr lang="en-US" sz="1400" dirty="0"/>
          </a:p>
        </p:txBody>
      </p:sp>
      <p:sp>
        <p:nvSpPr>
          <p:cNvPr id="15" name="Text 13"/>
          <p:cNvSpPr/>
          <p:nvPr/>
        </p:nvSpPr>
        <p:spPr>
          <a:xfrm>
            <a:off x="1024128" y="2121408"/>
            <a:ext cx="7635240" cy="329184"/>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Designate a board member or trusted community leader as project owner and single point of accountability.</a:t>
            </a:r>
            <a:endParaRPr lang="en-US" sz="1050" dirty="0"/>
          </a:p>
        </p:txBody>
      </p:sp>
      <p:sp>
        <p:nvSpPr>
          <p:cNvPr id="16" name="Shape 14"/>
          <p:cNvSpPr/>
          <p:nvPr/>
        </p:nvSpPr>
        <p:spPr>
          <a:xfrm>
            <a:off x="347472" y="2606040"/>
            <a:ext cx="502920" cy="502920"/>
          </a:xfrm>
          <a:prstGeom prst="ellipse">
            <a:avLst/>
          </a:prstGeom>
          <a:solidFill>
            <a:srgbClr val="8B1A1A"/>
          </a:solidFill>
          <a:ln w="12700">
            <a:solidFill>
              <a:srgbClr val="8B1A1A"/>
            </a:solidFill>
            <a:prstDash val="solid"/>
          </a:ln>
        </p:spPr>
      </p:sp>
      <p:sp>
        <p:nvSpPr>
          <p:cNvPr id="17" name="Text 15"/>
          <p:cNvSpPr/>
          <p:nvPr/>
        </p:nvSpPr>
        <p:spPr>
          <a:xfrm>
            <a:off x="347472" y="26060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8" name="Shape 16"/>
          <p:cNvSpPr/>
          <p:nvPr/>
        </p:nvSpPr>
        <p:spPr>
          <a:xfrm>
            <a:off x="566928" y="3108960"/>
            <a:ext cx="36576" cy="310896"/>
          </a:xfrm>
          <a:prstGeom prst="rect">
            <a:avLst/>
          </a:prstGeom>
          <a:solidFill>
            <a:srgbClr val="D0D0D0"/>
          </a:solidFill>
          <a:ln w="12700">
            <a:solidFill>
              <a:srgbClr val="D0D0D0"/>
            </a:solidFill>
            <a:prstDash val="solid"/>
          </a:ln>
        </p:spPr>
      </p:sp>
      <p:sp>
        <p:nvSpPr>
          <p:cNvPr id="19" name="Text 17"/>
          <p:cNvSpPr/>
          <p:nvPr/>
        </p:nvSpPr>
        <p:spPr>
          <a:xfrm>
            <a:off x="1024128" y="2578608"/>
            <a:ext cx="7635240" cy="320040"/>
          </a:xfrm>
          <a:prstGeom prst="rect">
            <a:avLst/>
          </a:prstGeom>
          <a:noFill/>
          <a:ln/>
        </p:spPr>
        <p:txBody>
          <a:bodyPr wrap="square" lIns="0" tIns="0" rIns="0" bIns="0" rtlCol="0" anchor="ctr"/>
          <a:lstStyle/>
          <a:p>
            <a:pPr marL="0" indent="0">
              <a:buNone/>
            </a:pPr>
            <a:r>
              <a:rPr lang="en-US" sz="1400" b="1" dirty="0">
                <a:solidFill>
                  <a:srgbClr val="6B1414"/>
                </a:solidFill>
                <a:latin typeface="Cambria" pitchFamily="34" charset="0"/>
                <a:ea typeface="Cambria" pitchFamily="34" charset="-122"/>
                <a:cs typeface="Cambria" pitchFamily="34" charset="-120"/>
              </a:rPr>
              <a:t>Recruit Developers</a:t>
            </a:r>
            <a:endParaRPr lang="en-US" sz="1400" dirty="0"/>
          </a:p>
        </p:txBody>
      </p:sp>
      <p:sp>
        <p:nvSpPr>
          <p:cNvPr id="20" name="Text 18"/>
          <p:cNvSpPr/>
          <p:nvPr/>
        </p:nvSpPr>
        <p:spPr>
          <a:xfrm>
            <a:off x="1024128" y="2935224"/>
            <a:ext cx="7635240" cy="329184"/>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Open call to FiTEN / FeTNA community. Target: 2–3 volunteer developers committed before any contracting begins.</a:t>
            </a:r>
            <a:endParaRPr lang="en-US" sz="1050" dirty="0"/>
          </a:p>
        </p:txBody>
      </p:sp>
      <p:sp>
        <p:nvSpPr>
          <p:cNvPr id="21" name="Shape 19"/>
          <p:cNvSpPr/>
          <p:nvPr/>
        </p:nvSpPr>
        <p:spPr>
          <a:xfrm>
            <a:off x="347472" y="3419856"/>
            <a:ext cx="502920" cy="502920"/>
          </a:xfrm>
          <a:prstGeom prst="ellipse">
            <a:avLst/>
          </a:prstGeom>
          <a:solidFill>
            <a:srgbClr val="8B1A1A"/>
          </a:solidFill>
          <a:ln w="12700">
            <a:solidFill>
              <a:srgbClr val="8B1A1A"/>
            </a:solidFill>
            <a:prstDash val="solid"/>
          </a:ln>
        </p:spPr>
      </p:sp>
      <p:sp>
        <p:nvSpPr>
          <p:cNvPr id="22" name="Text 20"/>
          <p:cNvSpPr/>
          <p:nvPr/>
        </p:nvSpPr>
        <p:spPr>
          <a:xfrm>
            <a:off x="347472" y="3419856"/>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3" name="Shape 21"/>
          <p:cNvSpPr/>
          <p:nvPr/>
        </p:nvSpPr>
        <p:spPr>
          <a:xfrm>
            <a:off x="566928" y="3922776"/>
            <a:ext cx="36576" cy="310896"/>
          </a:xfrm>
          <a:prstGeom prst="rect">
            <a:avLst/>
          </a:prstGeom>
          <a:solidFill>
            <a:srgbClr val="D0D0D0"/>
          </a:solidFill>
          <a:ln w="12700">
            <a:solidFill>
              <a:srgbClr val="D0D0D0"/>
            </a:solidFill>
            <a:prstDash val="solid"/>
          </a:ln>
        </p:spPr>
      </p:sp>
      <p:sp>
        <p:nvSpPr>
          <p:cNvPr id="24" name="Text 22"/>
          <p:cNvSpPr/>
          <p:nvPr/>
        </p:nvSpPr>
        <p:spPr>
          <a:xfrm>
            <a:off x="1024128" y="3392424"/>
            <a:ext cx="7635240" cy="320040"/>
          </a:xfrm>
          <a:prstGeom prst="rect">
            <a:avLst/>
          </a:prstGeom>
          <a:noFill/>
          <a:ln/>
        </p:spPr>
        <p:txBody>
          <a:bodyPr wrap="square" lIns="0" tIns="0" rIns="0" bIns="0" rtlCol="0" anchor="ctr"/>
          <a:lstStyle/>
          <a:p>
            <a:pPr marL="0" indent="0">
              <a:buNone/>
            </a:pPr>
            <a:r>
              <a:rPr lang="en-US" sz="1400" b="1" dirty="0">
                <a:solidFill>
                  <a:srgbClr val="6B1414"/>
                </a:solidFill>
                <a:latin typeface="Cambria" pitchFamily="34" charset="0"/>
                <a:ea typeface="Cambria" pitchFamily="34" charset="-122"/>
                <a:cs typeface="Cambria" pitchFamily="34" charset="-120"/>
              </a:rPr>
              <a:t>100 Founding Listings</a:t>
            </a:r>
            <a:endParaRPr lang="en-US" sz="1400" dirty="0"/>
          </a:p>
        </p:txBody>
      </p:sp>
      <p:sp>
        <p:nvSpPr>
          <p:cNvPr id="25" name="Text 23"/>
          <p:cNvSpPr/>
          <p:nvPr/>
        </p:nvSpPr>
        <p:spPr>
          <a:xfrm>
            <a:off x="1024128" y="3749040"/>
            <a:ext cx="7635240" cy="329184"/>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Recruit 100 businesses from the existing member network. Incentive: free lifetime Pro tier — before public launch.</a:t>
            </a:r>
            <a:endParaRPr lang="en-US" sz="1050" dirty="0"/>
          </a:p>
        </p:txBody>
      </p:sp>
      <p:sp>
        <p:nvSpPr>
          <p:cNvPr id="26" name="Shape 24"/>
          <p:cNvSpPr/>
          <p:nvPr/>
        </p:nvSpPr>
        <p:spPr>
          <a:xfrm>
            <a:off x="347472" y="4233672"/>
            <a:ext cx="502920" cy="502920"/>
          </a:xfrm>
          <a:prstGeom prst="ellipse">
            <a:avLst/>
          </a:prstGeom>
          <a:solidFill>
            <a:srgbClr val="8B1A1A"/>
          </a:solidFill>
          <a:ln w="12700">
            <a:solidFill>
              <a:srgbClr val="8B1A1A"/>
            </a:solidFill>
            <a:prstDash val="solid"/>
          </a:ln>
        </p:spPr>
      </p:sp>
      <p:sp>
        <p:nvSpPr>
          <p:cNvPr id="27" name="Text 25"/>
          <p:cNvSpPr/>
          <p:nvPr/>
        </p:nvSpPr>
        <p:spPr>
          <a:xfrm>
            <a:off x="347472" y="4233672"/>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8" name="Text 26"/>
          <p:cNvSpPr/>
          <p:nvPr/>
        </p:nvSpPr>
        <p:spPr>
          <a:xfrm>
            <a:off x="1024128" y="4206240"/>
            <a:ext cx="7635240" cy="320040"/>
          </a:xfrm>
          <a:prstGeom prst="rect">
            <a:avLst/>
          </a:prstGeom>
          <a:noFill/>
          <a:ln/>
        </p:spPr>
        <p:txBody>
          <a:bodyPr wrap="square" lIns="0" tIns="0" rIns="0" bIns="0" rtlCol="0" anchor="ctr"/>
          <a:lstStyle/>
          <a:p>
            <a:pPr marL="0" indent="0">
              <a:buNone/>
            </a:pPr>
            <a:r>
              <a:rPr lang="en-US" sz="1400" b="1" dirty="0">
                <a:solidFill>
                  <a:srgbClr val="6B1414"/>
                </a:solidFill>
                <a:latin typeface="Cambria" pitchFamily="34" charset="0"/>
                <a:ea typeface="Cambria" pitchFamily="34" charset="-122"/>
                <a:cs typeface="Cambria" pitchFamily="34" charset="-120"/>
              </a:rPr>
              <a:t>Build &amp; Soft Launch</a:t>
            </a:r>
            <a:endParaRPr lang="en-US" sz="1400" dirty="0"/>
          </a:p>
        </p:txBody>
      </p:sp>
      <p:sp>
        <p:nvSpPr>
          <p:cNvPr id="29" name="Text 27"/>
          <p:cNvSpPr/>
          <p:nvPr/>
        </p:nvSpPr>
        <p:spPr>
          <a:xfrm>
            <a:off x="1024128" y="4562856"/>
            <a:ext cx="7635240" cy="329184"/>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90-day Phase 1 build. Soft launch at the next FiTEN Edison event — live kiosk demo, QR code sign-up, founding business showcase.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A0E0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69400"/>
          </a:solidFill>
          <a:ln w="12700">
            <a:solidFill>
              <a:srgbClr val="C69400"/>
            </a:solidFill>
            <a:prstDash val="solid"/>
          </a:ln>
        </p:spPr>
      </p:sp>
      <p:sp>
        <p:nvSpPr>
          <p:cNvPr id="3" name="Shape 1"/>
          <p:cNvSpPr/>
          <p:nvPr/>
        </p:nvSpPr>
        <p:spPr>
          <a:xfrm>
            <a:off x="0" y="5029200"/>
            <a:ext cx="9144000" cy="114300"/>
          </a:xfrm>
          <a:prstGeom prst="rect">
            <a:avLst/>
          </a:prstGeom>
          <a:solidFill>
            <a:srgbClr val="C69400"/>
          </a:solidFill>
          <a:ln w="12700">
            <a:solidFill>
              <a:srgbClr val="C69400"/>
            </a:solidFill>
            <a:prstDash val="solid"/>
          </a:ln>
        </p:spPr>
      </p:sp>
      <p:sp>
        <p:nvSpPr>
          <p:cNvPr id="4" name="Text 2"/>
          <p:cNvSpPr/>
          <p:nvPr/>
        </p:nvSpPr>
        <p:spPr>
          <a:xfrm>
            <a:off x="457200" y="960120"/>
            <a:ext cx="8229600" cy="109728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FiTEN Business Directory</a:t>
            </a:r>
            <a:endParaRPr lang="en-US" sz="4600" dirty="0"/>
          </a:p>
        </p:txBody>
      </p:sp>
      <p:sp>
        <p:nvSpPr>
          <p:cNvPr id="5" name="Shape 3"/>
          <p:cNvSpPr/>
          <p:nvPr/>
        </p:nvSpPr>
        <p:spPr>
          <a:xfrm>
            <a:off x="3200400" y="2212848"/>
            <a:ext cx="2743200" cy="50292"/>
          </a:xfrm>
          <a:prstGeom prst="rect">
            <a:avLst/>
          </a:prstGeom>
          <a:solidFill>
            <a:srgbClr val="C69400"/>
          </a:solidFill>
          <a:ln w="12700">
            <a:solidFill>
              <a:srgbClr val="C69400"/>
            </a:solidFill>
            <a:prstDash val="solid"/>
          </a:ln>
        </p:spPr>
      </p:sp>
      <p:sp>
        <p:nvSpPr>
          <p:cNvPr id="6" name="Text 4"/>
          <p:cNvSpPr/>
          <p:nvPr/>
        </p:nvSpPr>
        <p:spPr>
          <a:xfrm>
            <a:off x="457200" y="2359152"/>
            <a:ext cx="8229600" cy="457200"/>
          </a:xfrm>
          <a:prstGeom prst="rect">
            <a:avLst/>
          </a:prstGeom>
          <a:noFill/>
          <a:ln/>
        </p:spPr>
        <p:txBody>
          <a:bodyPr wrap="square" rtlCol="0" anchor="ctr"/>
          <a:lstStyle/>
          <a:p>
            <a:pPr marL="0" indent="0" algn="ctr">
              <a:buNone/>
            </a:pPr>
            <a:r>
              <a:rPr lang="en-US" sz="1400" i="1" dirty="0">
                <a:solidFill>
                  <a:srgbClr val="E8D87A"/>
                </a:solidFill>
                <a:latin typeface="Calibri" pitchFamily="34" charset="0"/>
                <a:ea typeface="Calibri" pitchFamily="34" charset="-122"/>
                <a:cs typeface="Calibri" pitchFamily="34" charset="-120"/>
              </a:rPr>
              <a:t>Connecting Tamil Entrepreneurs — Across Borders, Across Industries, Year-Round.</a:t>
            </a:r>
            <a:endParaRPr lang="en-US" sz="1400" dirty="0"/>
          </a:p>
        </p:txBody>
      </p:sp>
      <p:sp>
        <p:nvSpPr>
          <p:cNvPr id="7" name="Shape 5"/>
          <p:cNvSpPr/>
          <p:nvPr/>
        </p:nvSpPr>
        <p:spPr>
          <a:xfrm>
            <a:off x="1371600" y="3017520"/>
            <a:ext cx="6400800" cy="1234440"/>
          </a:xfrm>
          <a:prstGeom prst="rect">
            <a:avLst/>
          </a:prstGeom>
          <a:solidFill>
            <a:srgbClr val="6B1414"/>
          </a:solidFill>
          <a:ln w="19050">
            <a:solidFill>
              <a:srgbClr val="C69400"/>
            </a:solidFill>
            <a:prstDash val="solid"/>
          </a:ln>
        </p:spPr>
      </p:sp>
      <p:sp>
        <p:nvSpPr>
          <p:cNvPr id="8" name="Text 6"/>
          <p:cNvSpPr/>
          <p:nvPr/>
        </p:nvSpPr>
        <p:spPr>
          <a:xfrm>
            <a:off x="1417320" y="3090672"/>
            <a:ext cx="630936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We are asking for approval to begin Phase 1.</a:t>
            </a:r>
            <a:endParaRPr lang="en-US" sz="1600" dirty="0"/>
          </a:p>
        </p:txBody>
      </p:sp>
      <p:sp>
        <p:nvSpPr>
          <p:cNvPr id="9" name="Text 7"/>
          <p:cNvSpPr/>
          <p:nvPr/>
        </p:nvSpPr>
        <p:spPr>
          <a:xfrm>
            <a:off x="1417320" y="3547872"/>
            <a:ext cx="6309360" cy="347472"/>
          </a:xfrm>
          <a:prstGeom prst="rect">
            <a:avLst/>
          </a:prstGeom>
          <a:noFill/>
          <a:ln/>
        </p:spPr>
        <p:txBody>
          <a:bodyPr wrap="square" lIns="0" tIns="0" rIns="0" bIns="0" rtlCol="0" anchor="ctr"/>
          <a:lstStyle/>
          <a:p>
            <a:pPr marL="0" indent="0" algn="ctr">
              <a:buNone/>
            </a:pPr>
            <a:r>
              <a:rPr lang="en-US" sz="1150" dirty="0">
                <a:solidFill>
                  <a:srgbClr val="CCCCCC"/>
                </a:solidFill>
                <a:latin typeface="Calibri" pitchFamily="34" charset="0"/>
                <a:ea typeface="Calibri" pitchFamily="34" charset="-122"/>
                <a:cs typeface="Calibri" pitchFamily="34" charset="-120"/>
              </a:rPr>
              <a:t>Board approval  ·  Phase 1 budget  ·  Directory Lead appointment</a:t>
            </a:r>
            <a:endParaRPr lang="en-US" sz="1150" dirty="0"/>
          </a:p>
        </p:txBody>
      </p:sp>
      <p:sp>
        <p:nvSpPr>
          <p:cNvPr id="11" name="Text 10">
            <a:extLst>
              <a:ext uri="{FF2B5EF4-FFF2-40B4-BE49-F238E27FC236}">
                <a16:creationId xmlns:a16="http://schemas.microsoft.com/office/drawing/2014/main" id="{934C2132-1191-2233-C6D6-EC3EE85879D1}"/>
              </a:ext>
            </a:extLst>
          </p:cNvPr>
          <p:cNvSpPr/>
          <p:nvPr/>
        </p:nvSpPr>
        <p:spPr>
          <a:xfrm>
            <a:off x="457200" y="4526280"/>
            <a:ext cx="8229600" cy="292608"/>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i="1">
                <a:solidFill>
                  <a:srgbClr val="C8A84B"/>
                </a:solidFill>
                <a:latin typeface="Calibri"/>
                <a:ea typeface="Calibri"/>
                <a:cs typeface="Calibri"/>
              </a:rPr>
              <a:t>Abdul Rasheed  ·  rasheed.comm@gmail.com  ·  fiten.org  ·  May 2026</a:t>
            </a:r>
            <a:endParaRPr lang="en-US" sz="1000">
              <a:latin typeface="Calibri"/>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FiTEN Business Directory — Quick Pitch</dc:title>
  <dc:subject>PptxGenJS Presentation</dc:subject>
  <dc:creator>FiTEN / FeTNA</dc:creator>
  <cp:lastModifiedBy>FiTEN / FeTNA</cp:lastModifiedBy>
  <cp:revision>28</cp:revision>
  <dcterms:created xsi:type="dcterms:W3CDTF">2026-05-19T01:15:46Z</dcterms:created>
  <dcterms:modified xsi:type="dcterms:W3CDTF">2026-05-19T02:56:26Z</dcterms:modified>
</cp:coreProperties>
</file>